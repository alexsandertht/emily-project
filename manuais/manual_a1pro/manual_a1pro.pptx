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565" r:id="rId11"/>
    <p:sldId id="268" r:id="rId12"/>
    <p:sldId id="269" r:id="rId13"/>
    <p:sldId id="260" r:id="rId14"/>
    <p:sldId id="261" r:id="rId15"/>
    <p:sldId id="262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12CF5-8FA0-4F09-8C8B-99A46F8EA9B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60E46-08C2-4CCC-BB2F-8BFB46143D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46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8CEA45-D30F-48C1-A77D-78819F98C063}" type="slidenum">
              <a:rPr lang="pt-BR" altLang="pt-BR" smtClean="0"/>
              <a:pPr>
                <a:defRPr/>
              </a:pPr>
              <a:t>10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71178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DBD61-9262-4C8F-B9A4-FBF34F1C9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553A17-1E78-4F00-A70D-B4F634FF5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231313-3491-4DA1-8A76-EADF1AF97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774054-64F9-4176-85E1-C2DB07494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0C7009-3771-48AB-8BE5-B71E65EF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3800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02674-8D59-4C78-8067-128099C12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23461-86B7-4E74-A3D2-C88518F3E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A72C0F-1703-4E56-933E-D39A76BE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86D914-0658-494D-973B-8F5588F1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A8A474-3FB7-4CEA-86DA-7502DB56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837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91E8E-C9F1-48B2-BD56-A658C7987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3FFE9D-E4E7-4B8C-BD20-05634FED1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6AD231-FFAE-4EB5-B213-A75883AC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306E8A-7F69-4AEE-88A7-983B5C0DA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972EFE-8EE1-4453-96A6-8407D377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2298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F060C-94E1-4E2D-9F8B-28F3AF1F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278F61-EEB6-40EA-8CC7-D6667B880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AA2AB2E-AED6-48BD-9674-C58ED3D28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922C95-8214-483C-BC43-D97AAAF0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DAA80C-E095-4F64-936F-D4B88E2D6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FA5295-EEB2-4A58-BAA7-55CD0A85C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76576-E2B0-49DD-AA70-56E595379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287AC5-4811-4BD2-A184-8C4CB5B85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2249AA-440B-4D21-8618-6E51BEEDD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D29B24-0EDC-4E93-9BEC-7BE0F8F4A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37D384-9AF9-428C-ACB0-4FA3F7F20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CA612B-70D7-47AD-A75C-D3338756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912C8AF-5D9C-4E2D-99A5-261BA050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5FD6B4-AE59-4D33-847A-171F8A14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665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183D10-1CD7-4D96-B18A-314129D96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D042411-2CE2-4D92-991E-4117CACC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B82DE6-AA35-4120-93A1-FAF2A2F7C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ABC43CD-B84F-4F46-B589-5727258A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023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E0A21A-53FE-4EF4-88F1-1BAB77E0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2F3A0B-5905-4C06-9013-4DA38486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4DD124-802D-4407-B25F-994AE693A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6888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B1CC9-24DB-4623-A405-FF96C3EF4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90976D-D762-4FAE-85AC-2354639A5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32EF55-D173-4FF2-8AF9-FCBB6BEE6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0C4D61-04B0-4579-8CCE-48FCE346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928363-D4E5-44EB-AE18-14D41AC8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518E48-36A2-4FA5-986D-2ADD51FE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03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24BC3-7ED6-448B-B874-280C51E3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7440BA4-989B-4D2C-B056-C4D69B6F6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849B35-551D-4766-8412-7000619D7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4600C0-E9C3-4D0B-A291-2F0F61E6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D1A1EE-CC73-41A9-AC94-22A5F993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E85F4E-A6FC-40F1-A890-5885FD49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54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2EB67-2B1C-4363-BF97-D201EFC8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934756-588E-413E-BFDE-1D0FB8239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26F9F-3AF7-4A27-871C-F556ADF42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236E70-E124-473C-B3DF-1B9032763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F14BB1-8419-468C-8C84-222F3C52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667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F35E4EB-5294-4F19-AED1-DF0E031C6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68119F-887E-4F9F-AD1B-E6D9C701C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F33CCB-2898-4D05-83D3-E1E8518E9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5CF592-DD3A-45BD-BCED-A1693D74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913DEB-EB91-448A-A374-D79DD94B5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76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749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96C868D-3397-4FC8-BC43-4D57FAB7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EEB6FB-8095-4202-92A1-03873D211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D45D09-CE41-45EE-B033-AC1957D05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E5C95-6D85-4CCF-A5E2-146575AD0516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E85000-6E88-4659-9F8A-F56F7FE67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B3FB70-E007-4B7C-A27C-D8A395732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09B57-16E1-4577-9EBF-E23EF5A1F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075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microsoft.com/office/2007/relationships/hdphoto" Target="../media/hdphoto4.wdp"/><Relationship Id="rId18" Type="http://schemas.microsoft.com/office/2007/relationships/hdphoto" Target="../media/hdphoto6.wdp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6" Type="http://schemas.microsoft.com/office/2007/relationships/hdphoto" Target="../media/hdphoto5.wdp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13.png"/><Relationship Id="rId15" Type="http://schemas.openxmlformats.org/officeDocument/2006/relationships/image" Target="../media/image19.png"/><Relationship Id="rId10" Type="http://schemas.openxmlformats.org/officeDocument/2006/relationships/image" Target="../media/image16.png"/><Relationship Id="rId19" Type="http://schemas.openxmlformats.org/officeDocument/2006/relationships/image" Target="../media/image21.png"/><Relationship Id="rId4" Type="http://schemas.openxmlformats.org/officeDocument/2006/relationships/image" Target="../media/image12.png"/><Relationship Id="rId9" Type="http://schemas.microsoft.com/office/2007/relationships/hdphoto" Target="../media/hdphoto2.wdp"/><Relationship Id="rId1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ixaDeTexto 31">
            <a:extLst>
              <a:ext uri="{FF2B5EF4-FFF2-40B4-BE49-F238E27FC236}">
                <a16:creationId xmlns:a16="http://schemas.microsoft.com/office/drawing/2014/main" id="{9062CDEC-A11C-42B0-B497-7D5D5295B998}"/>
              </a:ext>
            </a:extLst>
          </p:cNvPr>
          <p:cNvSpPr txBox="1"/>
          <p:nvPr/>
        </p:nvSpPr>
        <p:spPr>
          <a:xfrm>
            <a:off x="4605556" y="868868"/>
            <a:ext cx="298088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Tela inicial para a seleção da ferramenta.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F902117-8399-4A81-9B51-48756088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33" y="4734849"/>
            <a:ext cx="7172325" cy="154305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6D8F925-D292-4FF2-8546-AA34E26AD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95" y="2087870"/>
            <a:ext cx="3429000" cy="1704975"/>
          </a:xfrm>
          <a:prstGeom prst="rect">
            <a:avLst/>
          </a:prstGeom>
        </p:spPr>
      </p:pic>
      <p:sp>
        <p:nvSpPr>
          <p:cNvPr id="7" name="Seta: Dobrada para Cima 6">
            <a:extLst>
              <a:ext uri="{FF2B5EF4-FFF2-40B4-BE49-F238E27FC236}">
                <a16:creationId xmlns:a16="http://schemas.microsoft.com/office/drawing/2014/main" id="{CEA0B82F-6CD8-43E9-AE75-BC76240BFE0C}"/>
              </a:ext>
            </a:extLst>
          </p:cNvPr>
          <p:cNvSpPr/>
          <p:nvPr/>
        </p:nvSpPr>
        <p:spPr>
          <a:xfrm rot="10800000">
            <a:off x="3112314" y="2565645"/>
            <a:ext cx="1359018" cy="2169201"/>
          </a:xfrm>
          <a:prstGeom prst="bentUpArrow">
            <a:avLst>
              <a:gd name="adj1" fmla="val 7481"/>
              <a:gd name="adj2" fmla="val 9294"/>
              <a:gd name="adj3" fmla="val 1412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7CB8300-BB96-434F-989D-0B866A242FAE}"/>
              </a:ext>
            </a:extLst>
          </p:cNvPr>
          <p:cNvSpPr txBox="1"/>
          <p:nvPr/>
        </p:nvSpPr>
        <p:spPr>
          <a:xfrm>
            <a:off x="4232344" y="4326919"/>
            <a:ext cx="3727302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as ferramentas que foram migradas para WEB</a:t>
            </a:r>
          </a:p>
        </p:txBody>
      </p:sp>
    </p:spTree>
    <p:extLst>
      <p:ext uri="{BB962C8B-B14F-4D97-AF65-F5344CB8AC3E}">
        <p14:creationId xmlns:p14="http://schemas.microsoft.com/office/powerpoint/2010/main" val="3383062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3D43D66-78F2-4196-BB15-7D3978C457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0" b="-1"/>
          <a:stretch/>
        </p:blipFill>
        <p:spPr>
          <a:xfrm>
            <a:off x="3943166" y="1695609"/>
            <a:ext cx="3409950" cy="411515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EA014F7-5C46-4AE1-B001-EA4811BAFD28}"/>
              </a:ext>
            </a:extLst>
          </p:cNvPr>
          <p:cNvSpPr txBox="1"/>
          <p:nvPr/>
        </p:nvSpPr>
        <p:spPr>
          <a:xfrm>
            <a:off x="691422" y="1828799"/>
            <a:ext cx="2585052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o explorador de arquivos no modo seleção de pasta e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busca por arquivos .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dwg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e arquivos .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xlsx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com listas de materiais.</a:t>
            </a: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07D459F6-370E-4C7D-8B99-DD1B66006527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2948961" y="1694782"/>
            <a:ext cx="330854" cy="22608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80EFFB2-A37E-46C0-A17A-4A3A04EDE839}"/>
              </a:ext>
            </a:extLst>
          </p:cNvPr>
          <p:cNvSpPr txBox="1"/>
          <p:nvPr/>
        </p:nvSpPr>
        <p:spPr>
          <a:xfrm>
            <a:off x="168043" y="5235763"/>
            <a:ext cx="2250062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o explorador de arquivos no modo seleção de arquivo, </a:t>
            </a:r>
          </a:p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Um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padrão será utilizado caso um arquivo não seja selecionado.</a:t>
            </a:r>
          </a:p>
        </p:txBody>
      </p: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2B489487-0D89-4024-B343-B52409A3CFD7}"/>
              </a:ext>
            </a:extLst>
          </p:cNvPr>
          <p:cNvCxnSpPr>
            <a:cxnSpLocks/>
            <a:stCxn id="14" idx="0"/>
          </p:cNvCxnSpPr>
          <p:nvPr/>
        </p:nvCxnSpPr>
        <p:spPr>
          <a:xfrm rot="5400000" flipH="1" flipV="1">
            <a:off x="1945225" y="2936160"/>
            <a:ext cx="1647453" cy="29517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9A600A1-0998-48B8-9F7F-93A581B600AE}"/>
              </a:ext>
            </a:extLst>
          </p:cNvPr>
          <p:cNvSpPr txBox="1"/>
          <p:nvPr/>
        </p:nvSpPr>
        <p:spPr>
          <a:xfrm>
            <a:off x="2609731" y="4644097"/>
            <a:ext cx="112503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Seleção da revisão atual.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B33E6DC-0975-4C0D-A4BC-A26A40474667}"/>
              </a:ext>
            </a:extLst>
          </p:cNvPr>
          <p:cNvSpPr txBox="1"/>
          <p:nvPr/>
        </p:nvSpPr>
        <p:spPr>
          <a:xfrm>
            <a:off x="8983085" y="5953211"/>
            <a:ext cx="271370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 barra de progresso do cálculo dos materiais é exibida em outra aba.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67DA826-27DD-4429-8ACF-BBCC5698CF38}"/>
              </a:ext>
            </a:extLst>
          </p:cNvPr>
          <p:cNvSpPr txBox="1"/>
          <p:nvPr/>
        </p:nvSpPr>
        <p:spPr>
          <a:xfrm>
            <a:off x="8019808" y="3982711"/>
            <a:ext cx="284520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SAP = Código do cliente.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REF e FAB = Referência ao fabricante.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68AD6168-2C0B-4117-AF38-789011876EC2}"/>
              </a:ext>
            </a:extLst>
          </p:cNvPr>
          <p:cNvSpPr txBox="1"/>
          <p:nvPr/>
        </p:nvSpPr>
        <p:spPr>
          <a:xfrm>
            <a:off x="7491498" y="4916819"/>
            <a:ext cx="171393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Gera a lista de típicos.</a:t>
            </a:r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1C425E9A-86BD-4AFC-B488-10942F02A40C}"/>
              </a:ext>
            </a:extLst>
          </p:cNvPr>
          <p:cNvCxnSpPr>
            <a:cxnSpLocks/>
            <a:stCxn id="41" idx="1"/>
          </p:cNvCxnSpPr>
          <p:nvPr/>
        </p:nvCxnSpPr>
        <p:spPr>
          <a:xfrm flipH="1">
            <a:off x="6040073" y="5055319"/>
            <a:ext cx="1451425" cy="8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FE43254-C561-4D15-8B44-0A17EA06767A}"/>
              </a:ext>
            </a:extLst>
          </p:cNvPr>
          <p:cNvSpPr txBox="1"/>
          <p:nvPr/>
        </p:nvSpPr>
        <p:spPr>
          <a:xfrm>
            <a:off x="3001440" y="471204"/>
            <a:ext cx="607726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Será necessário colocar todos os arquivos .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dwg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e/ou .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xlsx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em uma mesma pasta para que o arquivo de materiais seja gerado. É recomendado executar o AutoCAD na mesma versão em que os arquivos foram criados para agilizar o processo de cálculo.</a:t>
            </a: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BF5DF0BF-82A8-43F5-B0D6-98FBA6C75820}"/>
              </a:ext>
            </a:extLst>
          </p:cNvPr>
          <p:cNvCxnSpPr>
            <a:cxnSpLocks/>
          </p:cNvCxnSpPr>
          <p:nvPr/>
        </p:nvCxnSpPr>
        <p:spPr>
          <a:xfrm>
            <a:off x="3734762" y="4874929"/>
            <a:ext cx="501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E54F798B-4199-45D7-8EEA-6A1E57CC2CE9}"/>
              </a:ext>
            </a:extLst>
          </p:cNvPr>
          <p:cNvCxnSpPr>
            <a:stCxn id="36" idx="1"/>
          </p:cNvCxnSpPr>
          <p:nvPr/>
        </p:nvCxnSpPr>
        <p:spPr>
          <a:xfrm rot="10800000" flipV="1">
            <a:off x="6769916" y="4213543"/>
            <a:ext cx="1249892" cy="4305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47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26315F4-0BE7-4C21-A966-F3EB9720F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0" y="1295400"/>
            <a:ext cx="3238500" cy="42672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9706A32-A837-41BC-92CF-48FFD65B6ED5}"/>
              </a:ext>
            </a:extLst>
          </p:cNvPr>
          <p:cNvSpPr txBox="1"/>
          <p:nvPr/>
        </p:nvSpPr>
        <p:spPr>
          <a:xfrm>
            <a:off x="914857" y="1424767"/>
            <a:ext cx="266347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o explorador de arquivos no modo seleção de arquivo. Selecione o arquivo anterior a revisão atual.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46C6DF1-C447-4F10-B2A3-3618EC91AF3C}"/>
              </a:ext>
            </a:extLst>
          </p:cNvPr>
          <p:cNvSpPr txBox="1"/>
          <p:nvPr/>
        </p:nvSpPr>
        <p:spPr>
          <a:xfrm>
            <a:off x="243351" y="3594272"/>
            <a:ext cx="35316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o explorador de arquivos no modo seleção de arquivo. Selecione o arquivo da revisão atual.</a:t>
            </a:r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52378EBA-9070-4366-BC81-68AFF0904890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3217847" y="1099843"/>
            <a:ext cx="479406" cy="24219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BAFBDC60-E38B-4797-BA09-2D4493069C5D}"/>
              </a:ext>
            </a:extLst>
          </p:cNvPr>
          <p:cNvCxnSpPr>
            <a:cxnSpLocks/>
            <a:stCxn id="4" idx="0"/>
          </p:cNvCxnSpPr>
          <p:nvPr/>
        </p:nvCxnSpPr>
        <p:spPr>
          <a:xfrm rot="5400000" flipH="1" flipV="1">
            <a:off x="3200828" y="2122433"/>
            <a:ext cx="280210" cy="26634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72C7582-8876-45F6-933A-6C1EBF77F635}"/>
              </a:ext>
            </a:extLst>
          </p:cNvPr>
          <p:cNvSpPr txBox="1"/>
          <p:nvPr/>
        </p:nvSpPr>
        <p:spPr>
          <a:xfrm>
            <a:off x="177647" y="4325112"/>
            <a:ext cx="404309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Coluna principal com ou sem repetição de valores.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B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F40945C-4A81-4046-914C-D5422BA57C52}"/>
              </a:ext>
            </a:extLst>
          </p:cNvPr>
          <p:cNvSpPr txBox="1"/>
          <p:nvPr/>
        </p:nvSpPr>
        <p:spPr>
          <a:xfrm>
            <a:off x="7996185" y="4059964"/>
            <a:ext cx="390662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Coluna secundária sem repetição de valores, usada quando existir repetição de valores na coluna principal.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0F0CA6E-86D7-4A94-BCBD-6EA221960319}"/>
              </a:ext>
            </a:extLst>
          </p:cNvPr>
          <p:cNvSpPr txBox="1"/>
          <p:nvPr/>
        </p:nvSpPr>
        <p:spPr>
          <a:xfrm>
            <a:off x="1272512" y="4853172"/>
            <a:ext cx="1864613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Gera o arquivo revisado.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7704460A-4420-4533-BFE5-3020578D3809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137125" y="4991672"/>
            <a:ext cx="15142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83645CBF-C315-4F93-9B98-2FA90042B80F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6236467" y="4290797"/>
            <a:ext cx="17597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FACBF226-5F1A-4813-A5BE-78E2AC7698E8}"/>
              </a:ext>
            </a:extLst>
          </p:cNvPr>
          <p:cNvSpPr txBox="1"/>
          <p:nvPr/>
        </p:nvSpPr>
        <p:spPr>
          <a:xfrm>
            <a:off x="3803812" y="484108"/>
            <a:ext cx="458437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 seleção das chaves determina o resultado final, linhas novas e valores novos são pintados de amarelo, linhas apagadas são pintadas de vermelho e adicionadas ao final do arquivo.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AC62798-FAFE-43F1-B0DE-8AC2615FECE0}"/>
              </a:ext>
            </a:extLst>
          </p:cNvPr>
          <p:cNvSpPr txBox="1"/>
          <p:nvPr/>
        </p:nvSpPr>
        <p:spPr>
          <a:xfrm>
            <a:off x="235243" y="5929289"/>
            <a:ext cx="729077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Controladoria: Opção para comparação entre FC e extrato, o arquivo deve ficar no local da revisão atual.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D1470EC-4E6E-4C6B-B020-64581D5AF188}"/>
              </a:ext>
            </a:extLst>
          </p:cNvPr>
          <p:cNvSpPr txBox="1"/>
          <p:nvPr/>
        </p:nvSpPr>
        <p:spPr>
          <a:xfrm>
            <a:off x="235243" y="6317898"/>
            <a:ext cx="5202065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Outra lista: Opção para comparação entre revisão anterior e revisão atual.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3AB726B-9E2D-4769-A142-E9D989F78A87}"/>
              </a:ext>
            </a:extLst>
          </p:cNvPr>
          <p:cNvSpPr txBox="1"/>
          <p:nvPr/>
        </p:nvSpPr>
        <p:spPr>
          <a:xfrm>
            <a:off x="8003771" y="4576173"/>
            <a:ext cx="2743059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Caso as abas estejam em sequência.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94A02CFB-354C-432C-8C5C-7740834CDB36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6384022" y="4714672"/>
            <a:ext cx="161974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9694EE7C-09FF-494F-AD02-E25C408F0851}"/>
              </a:ext>
            </a:extLst>
          </p:cNvPr>
          <p:cNvCxnSpPr>
            <a:stCxn id="15" idx="3"/>
          </p:cNvCxnSpPr>
          <p:nvPr/>
        </p:nvCxnSpPr>
        <p:spPr>
          <a:xfrm flipV="1">
            <a:off x="4220741" y="4055937"/>
            <a:ext cx="447767" cy="4076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172758A-E868-4097-A773-B18BCA8C7404}"/>
              </a:ext>
            </a:extLst>
          </p:cNvPr>
          <p:cNvSpPr txBox="1"/>
          <p:nvPr/>
        </p:nvSpPr>
        <p:spPr>
          <a:xfrm>
            <a:off x="8003771" y="5138549"/>
            <a:ext cx="208582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Para listas da controladoria.</a:t>
            </a:r>
          </a:p>
        </p:txBody>
      </p:sp>
      <p:cxnSp>
        <p:nvCxnSpPr>
          <p:cNvPr id="33" name="Conector: Angulado 32">
            <a:extLst>
              <a:ext uri="{FF2B5EF4-FFF2-40B4-BE49-F238E27FC236}">
                <a16:creationId xmlns:a16="http://schemas.microsoft.com/office/drawing/2014/main" id="{F65A19B6-A68B-4529-A672-379269060121}"/>
              </a:ext>
            </a:extLst>
          </p:cNvPr>
          <p:cNvCxnSpPr>
            <a:cxnSpLocks/>
            <a:stCxn id="29" idx="1"/>
          </p:cNvCxnSpPr>
          <p:nvPr/>
        </p:nvCxnSpPr>
        <p:spPr>
          <a:xfrm rot="10800000">
            <a:off x="6096059" y="4509365"/>
            <a:ext cx="1907713" cy="76768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56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C7FD4083-3EC1-46D7-A7EE-034ED49C4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190" y="2671857"/>
            <a:ext cx="3847619" cy="1514286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7B4260A-7984-4E0E-8AEE-24845149D6D7}"/>
              </a:ext>
            </a:extLst>
          </p:cNvPr>
          <p:cNvSpPr txBox="1"/>
          <p:nvPr/>
        </p:nvSpPr>
        <p:spPr>
          <a:xfrm>
            <a:off x="204716" y="2152246"/>
            <a:ext cx="424988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o explorador de arquivos no modo seleção de arquivo.</a:t>
            </a:r>
          </a:p>
        </p:txBody>
      </p: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A11EBBE1-0679-4036-A4F6-B21AD1107131}"/>
              </a:ext>
            </a:extLst>
          </p:cNvPr>
          <p:cNvCxnSpPr>
            <a:cxnSpLocks/>
            <a:stCxn id="13" idx="2"/>
          </p:cNvCxnSpPr>
          <p:nvPr/>
        </p:nvCxnSpPr>
        <p:spPr>
          <a:xfrm rot="16200000" flipH="1">
            <a:off x="2851698" y="1907203"/>
            <a:ext cx="798451" cy="18425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3E58156A-D5C8-42DD-98C8-18309A341BEE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329656" y="3227695"/>
            <a:ext cx="1842534" cy="201305"/>
          </a:xfrm>
          <a:prstGeom prst="bentConnector3">
            <a:avLst>
              <a:gd name="adj1" fmla="val 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B591798-215F-4385-9913-617DC5463724}"/>
              </a:ext>
            </a:extLst>
          </p:cNvPr>
          <p:cNvSpPr txBox="1"/>
          <p:nvPr/>
        </p:nvSpPr>
        <p:spPr>
          <a:xfrm>
            <a:off x="2329656" y="3669072"/>
            <a:ext cx="152317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Número da revisão.</a:t>
            </a: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587E396D-3118-4EBD-93CC-DFA5951F1FEA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852830" y="3807571"/>
            <a:ext cx="31936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CCCA64C-FC17-4CAF-A6B6-B7BE3654873D}"/>
              </a:ext>
            </a:extLst>
          </p:cNvPr>
          <p:cNvSpPr txBox="1"/>
          <p:nvPr/>
        </p:nvSpPr>
        <p:spPr>
          <a:xfrm>
            <a:off x="5189340" y="4423799"/>
            <a:ext cx="181331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Seleção do tipo de lista.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F8934FB-E8E4-40C5-BACD-DBE64DC19DC6}"/>
              </a:ext>
            </a:extLst>
          </p:cNvPr>
          <p:cNvSpPr txBox="1"/>
          <p:nvPr/>
        </p:nvSpPr>
        <p:spPr>
          <a:xfrm>
            <a:off x="8226565" y="3152001"/>
            <a:ext cx="1848583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Gera o arquivo de listas.</a:t>
            </a:r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15185B15-7546-4F17-BBF9-21367E3E79A2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8019819" y="3290501"/>
            <a:ext cx="2067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B6A8C794-66D9-4927-BE1D-4E1D48E5107E}"/>
              </a:ext>
            </a:extLst>
          </p:cNvPr>
          <p:cNvCxnSpPr>
            <a:cxnSpLocks/>
            <a:stCxn id="26" idx="0"/>
            <a:endCxn id="2" idx="2"/>
          </p:cNvCxnSpPr>
          <p:nvPr/>
        </p:nvCxnSpPr>
        <p:spPr>
          <a:xfrm flipV="1">
            <a:off x="6095999" y="4186143"/>
            <a:ext cx="1" cy="237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AD2E035-A289-4931-B425-3D2B735302DE}"/>
              </a:ext>
            </a:extLst>
          </p:cNvPr>
          <p:cNvSpPr txBox="1"/>
          <p:nvPr/>
        </p:nvSpPr>
        <p:spPr>
          <a:xfrm>
            <a:off x="2699876" y="1492971"/>
            <a:ext cx="679224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 arquivo de listas deve ter a planilha que foi selecionada e a query o número de colunas correta.</a:t>
            </a:r>
          </a:p>
        </p:txBody>
      </p:sp>
      <p:graphicFrame>
        <p:nvGraphicFramePr>
          <p:cNvPr id="36" name="Tabela 35">
            <a:extLst>
              <a:ext uri="{FF2B5EF4-FFF2-40B4-BE49-F238E27FC236}">
                <a16:creationId xmlns:a16="http://schemas.microsoft.com/office/drawing/2014/main" id="{A47BF181-FB32-47ED-B828-DCAF775D4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727474"/>
              </p:ext>
            </p:extLst>
          </p:nvPr>
        </p:nvGraphicFramePr>
        <p:xfrm>
          <a:off x="4172188" y="4938454"/>
          <a:ext cx="3847620" cy="1479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3810">
                  <a:extLst>
                    <a:ext uri="{9D8B030D-6E8A-4147-A177-3AD203B41FA5}">
                      <a16:colId xmlns:a16="http://schemas.microsoft.com/office/drawing/2014/main" val="1498035852"/>
                    </a:ext>
                  </a:extLst>
                </a:gridCol>
                <a:gridCol w="1923810">
                  <a:extLst>
                    <a:ext uri="{9D8B030D-6E8A-4147-A177-3AD203B41FA5}">
                      <a16:colId xmlns:a16="http://schemas.microsoft.com/office/drawing/2014/main" val="3179719453"/>
                    </a:ext>
                  </a:extLst>
                </a:gridCol>
              </a:tblGrid>
              <a:tr h="36987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de lista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Colunas da query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7334203"/>
                  </a:ext>
                </a:extLst>
              </a:tr>
              <a:tr h="36987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Instrumentos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609451"/>
                  </a:ext>
                </a:extLst>
              </a:tr>
              <a:tr h="36987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39928"/>
                  </a:ext>
                </a:extLst>
              </a:tr>
              <a:tr h="36987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Válv</a:t>
                      </a:r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Manuais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168016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3BB4756E-ABAA-4972-B6EA-04A06604359D}"/>
              </a:ext>
            </a:extLst>
          </p:cNvPr>
          <p:cNvSpPr txBox="1"/>
          <p:nvPr/>
        </p:nvSpPr>
        <p:spPr>
          <a:xfrm>
            <a:off x="8414177" y="5347004"/>
            <a:ext cx="306196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Se o número de colunas for diferente, ocorrerão erros de diversas ordens e esses não serão corrigidos.</a:t>
            </a:r>
          </a:p>
        </p:txBody>
      </p:sp>
    </p:spTree>
    <p:extLst>
      <p:ext uri="{BB962C8B-B14F-4D97-AF65-F5344CB8AC3E}">
        <p14:creationId xmlns:p14="http://schemas.microsoft.com/office/powerpoint/2010/main" val="2726082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elular com publicação numa rede social&#10;&#10;Descrição gerada automaticamente">
            <a:extLst>
              <a:ext uri="{FF2B5EF4-FFF2-40B4-BE49-F238E27FC236}">
                <a16:creationId xmlns:a16="http://schemas.microsoft.com/office/drawing/2014/main" id="{03D049B9-663A-462E-9CD6-452680063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2666" y="2662333"/>
            <a:ext cx="3866667" cy="153333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F2772BE-C97C-4325-9EF8-45ABC1310298}"/>
              </a:ext>
            </a:extLst>
          </p:cNvPr>
          <p:cNvSpPr txBox="1"/>
          <p:nvPr/>
        </p:nvSpPr>
        <p:spPr>
          <a:xfrm>
            <a:off x="393863" y="2097614"/>
            <a:ext cx="424988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o explorador de arquivos no modo seleção de arquivo.</a:t>
            </a:r>
          </a:p>
        </p:txBody>
      </p:sp>
      <p:cxnSp>
        <p:nvCxnSpPr>
          <p:cNvPr id="5" name="Conector: Angulado 4">
            <a:extLst>
              <a:ext uri="{FF2B5EF4-FFF2-40B4-BE49-F238E27FC236}">
                <a16:creationId xmlns:a16="http://schemas.microsoft.com/office/drawing/2014/main" id="{F7EEBBB3-B395-4E34-A13E-38D876CEB938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2908791" y="1984626"/>
            <a:ext cx="848738" cy="16287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DF4325F8-1BEF-4950-B18C-19D2F2E91D4E}"/>
              </a:ext>
            </a:extLst>
          </p:cNvPr>
          <p:cNvSpPr txBox="1"/>
          <p:nvPr/>
        </p:nvSpPr>
        <p:spPr>
          <a:xfrm>
            <a:off x="301499" y="4726963"/>
            <a:ext cx="3579826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Lista do comos em que as abas são renomeadas.</a:t>
            </a:r>
          </a:p>
        </p:txBody>
      </p: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BC5D4AEE-1A90-48F0-B45B-BE372DA07DA6}"/>
              </a:ext>
            </a:extLst>
          </p:cNvPr>
          <p:cNvCxnSpPr>
            <a:cxnSpLocks/>
            <a:stCxn id="6" idx="0"/>
          </p:cNvCxnSpPr>
          <p:nvPr/>
        </p:nvCxnSpPr>
        <p:spPr>
          <a:xfrm rot="5400000" flipH="1" flipV="1">
            <a:off x="2760164" y="3332849"/>
            <a:ext cx="725362" cy="20628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B2AC1B5F-9E54-4158-A48C-91B679C4ECA9}"/>
              </a:ext>
            </a:extLst>
          </p:cNvPr>
          <p:cNvSpPr txBox="1"/>
          <p:nvPr/>
        </p:nvSpPr>
        <p:spPr>
          <a:xfrm>
            <a:off x="7507378" y="2142165"/>
            <a:ext cx="236154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Junta todos arquivos em um só.</a:t>
            </a:r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77871C18-3011-46C5-A88B-96B1BD19620C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7928274" y="2528610"/>
            <a:ext cx="869323" cy="650430"/>
          </a:xfrm>
          <a:prstGeom prst="bentConnector3">
            <a:avLst>
              <a:gd name="adj1" fmla="val 9921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1E89495-E810-4817-A204-310A2C9CF235}"/>
              </a:ext>
            </a:extLst>
          </p:cNvPr>
          <p:cNvSpPr txBox="1"/>
          <p:nvPr/>
        </p:nvSpPr>
        <p:spPr>
          <a:xfrm>
            <a:off x="5212500" y="5224765"/>
            <a:ext cx="1312379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Outros arquivos.</a:t>
            </a:r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FDA4FC8C-37C4-4BA0-AF44-A08A9EFE1E72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5863905" y="4195666"/>
            <a:ext cx="4785" cy="1029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051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A05E91E-FF29-4A2D-89C0-3557EC02F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708" y="889512"/>
            <a:ext cx="3419475" cy="558165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F2206B2-8A73-457F-8AC7-B1C8331EDF6B}"/>
              </a:ext>
            </a:extLst>
          </p:cNvPr>
          <p:cNvSpPr txBox="1"/>
          <p:nvPr/>
        </p:nvSpPr>
        <p:spPr>
          <a:xfrm>
            <a:off x="227994" y="386838"/>
            <a:ext cx="299337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o explorador de arquivos no modo seleção de pasta e busca por arquivos .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txt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ou .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csv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com listas de materiais.</a:t>
            </a:r>
          </a:p>
        </p:txBody>
      </p:sp>
      <p:cxnSp>
        <p:nvCxnSpPr>
          <p:cNvPr id="5" name="Conector: Angulado 4">
            <a:extLst>
              <a:ext uri="{FF2B5EF4-FFF2-40B4-BE49-F238E27FC236}">
                <a16:creationId xmlns:a16="http://schemas.microsoft.com/office/drawing/2014/main" id="{CCAEF980-4760-49CD-8C62-726A37ADC4B1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2675025" y="82826"/>
            <a:ext cx="1215081" cy="31157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091B3976-4173-4C46-AF6E-914CD663EA4A}"/>
              </a:ext>
            </a:extLst>
          </p:cNvPr>
          <p:cNvSpPr txBox="1"/>
          <p:nvPr/>
        </p:nvSpPr>
        <p:spPr>
          <a:xfrm>
            <a:off x="624418" y="2511703"/>
            <a:ext cx="218774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o explorador de arquivos no modo seleção de arquivo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EBA4B16-3AE8-4426-90B8-5DF777732E1C}"/>
              </a:ext>
            </a:extLst>
          </p:cNvPr>
          <p:cNvSpPr txBox="1"/>
          <p:nvPr/>
        </p:nvSpPr>
        <p:spPr>
          <a:xfrm>
            <a:off x="8632003" y="4866937"/>
            <a:ext cx="190629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Seleção da revisão atual.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197A7F0-1C72-4CFA-A303-C71285AC2C19}"/>
              </a:ext>
            </a:extLst>
          </p:cNvPr>
          <p:cNvSpPr txBox="1"/>
          <p:nvPr/>
        </p:nvSpPr>
        <p:spPr>
          <a:xfrm>
            <a:off x="2713332" y="5036981"/>
            <a:ext cx="126133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Lista em inglês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A1FBCFD-95B9-4409-888B-7C125A4F4F54}"/>
              </a:ext>
            </a:extLst>
          </p:cNvPr>
          <p:cNvSpPr txBox="1"/>
          <p:nvPr/>
        </p:nvSpPr>
        <p:spPr>
          <a:xfrm>
            <a:off x="9002702" y="2025956"/>
            <a:ext cx="26140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Progresso do cálculo dos materiais é exibido em outra instância.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44CAC4D-F858-4699-918D-06866C0B520A}"/>
              </a:ext>
            </a:extLst>
          </p:cNvPr>
          <p:cNvSpPr txBox="1"/>
          <p:nvPr/>
        </p:nvSpPr>
        <p:spPr>
          <a:xfrm>
            <a:off x="8430667" y="5663311"/>
            <a:ext cx="263084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Gera o arquivo da lista selecionada.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FFC58C9D-620A-44BB-92CB-9B17B1840142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8029333" y="5801811"/>
            <a:ext cx="401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5944EC17-5A6C-48C1-83C4-69A0A9F20CB4}"/>
              </a:ext>
            </a:extLst>
          </p:cNvPr>
          <p:cNvSpPr txBox="1"/>
          <p:nvPr/>
        </p:nvSpPr>
        <p:spPr>
          <a:xfrm>
            <a:off x="930614" y="3870126"/>
            <a:ext cx="147702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Opções do tipo de lista de materiais</a:t>
            </a: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BCE46461-F365-47EA-BA07-D966D5E5B905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2407640" y="4100959"/>
            <a:ext cx="2432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D3D051B2-75DA-4560-ACE2-2A81A7D9610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3974662" y="5175481"/>
            <a:ext cx="8657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F2EC5737-CB35-4023-A8A2-29CED65E3D4F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V="1">
            <a:off x="7206143" y="5005436"/>
            <a:ext cx="1425860" cy="380875"/>
          </a:xfrm>
          <a:prstGeom prst="bentConnector3">
            <a:avLst>
              <a:gd name="adj1" fmla="val 2764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0A2B062-65EE-4618-9F98-788FA28F9B44}"/>
              </a:ext>
            </a:extLst>
          </p:cNvPr>
          <p:cNvCxnSpPr>
            <a:cxnSpLocks/>
          </p:cNvCxnSpPr>
          <p:nvPr/>
        </p:nvCxnSpPr>
        <p:spPr>
          <a:xfrm>
            <a:off x="2812166" y="2834868"/>
            <a:ext cx="20282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330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B0E27AC-787B-4080-B071-13A04858A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381" y="1999294"/>
            <a:ext cx="2296068" cy="318961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2815200-7022-4845-A6DF-6B3E21D1001C}"/>
              </a:ext>
            </a:extLst>
          </p:cNvPr>
          <p:cNvSpPr txBox="1"/>
          <p:nvPr/>
        </p:nvSpPr>
        <p:spPr>
          <a:xfrm>
            <a:off x="2532646" y="2025054"/>
            <a:ext cx="1622056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Siga as instruções</a:t>
            </a:r>
          </a:p>
        </p:txBody>
      </p:sp>
      <p:cxnSp>
        <p:nvCxnSpPr>
          <p:cNvPr id="5" name="Conector: Angulado 4">
            <a:extLst>
              <a:ext uri="{FF2B5EF4-FFF2-40B4-BE49-F238E27FC236}">
                <a16:creationId xmlns:a16="http://schemas.microsoft.com/office/drawing/2014/main" id="{A3C9F33C-7C41-4394-BDF5-002D20A3F235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3973703" y="1672024"/>
            <a:ext cx="303742" cy="15638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2B1462-BA8A-4037-A45B-6A12F7AF4C26}"/>
              </a:ext>
            </a:extLst>
          </p:cNvPr>
          <p:cNvSpPr txBox="1"/>
          <p:nvPr/>
        </p:nvSpPr>
        <p:spPr>
          <a:xfrm>
            <a:off x="1044015" y="4325114"/>
            <a:ext cx="2694075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Após alterar a planilha padrão, com a lista de suportes definida para o book, as correlações serão feitas e será possível pressionar LOAD para então fazer todos os downloads</a:t>
            </a:r>
          </a:p>
        </p:txBody>
      </p: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45599EC2-FFD6-4533-A2E5-ECF7B019BE6B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738090" y="4832946"/>
            <a:ext cx="1169384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B0BA7D3-307F-4EBD-A3BD-86DDBF3A7134}"/>
              </a:ext>
            </a:extLst>
          </p:cNvPr>
          <p:cNvSpPr txBox="1"/>
          <p:nvPr/>
        </p:nvSpPr>
        <p:spPr>
          <a:xfrm>
            <a:off x="6899925" y="1308697"/>
            <a:ext cx="256162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um arquivo Excel com o padrão correto para download.</a:t>
            </a:r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C5A2A8D0-2B7C-45C2-9A10-AB524EF9E8D7}"/>
              </a:ext>
            </a:extLst>
          </p:cNvPr>
          <p:cNvCxnSpPr>
            <a:cxnSpLocks/>
          </p:cNvCxnSpPr>
          <p:nvPr/>
        </p:nvCxnSpPr>
        <p:spPr>
          <a:xfrm rot="5400000">
            <a:off x="6563156" y="1976516"/>
            <a:ext cx="1823737" cy="14114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784D73BB-30BA-454C-9513-1FBA3EEE7867}"/>
              </a:ext>
            </a:extLst>
          </p:cNvPr>
          <p:cNvSpPr txBox="1"/>
          <p:nvPr/>
        </p:nvSpPr>
        <p:spPr>
          <a:xfrm>
            <a:off x="612342" y="405819"/>
            <a:ext cx="256162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 a1load se inicia com a seleção da pasta na qual os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docs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zipados serão baixados. Não há barra de progresso, o app avisa quando termina as operações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D20E5FE-73EC-4672-99A5-A978147F757E}"/>
              </a:ext>
            </a:extLst>
          </p:cNvPr>
          <p:cNvSpPr txBox="1"/>
          <p:nvPr/>
        </p:nvSpPr>
        <p:spPr>
          <a:xfrm>
            <a:off x="8180736" y="4522600"/>
            <a:ext cx="256162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Pede ao usuário um arquivo PDF de capa e mescla com os demais </a:t>
            </a:r>
            <a:r>
              <a:rPr lang="pt-BR" sz="12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pdfs</a:t>
            </a:r>
            <a:r>
              <a:rPr lang="pt-BR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pasta A1_LOAD+nome/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E3C3F331-FC07-464E-8FC3-25487C7B9DE5}"/>
              </a:ext>
            </a:extLst>
          </p:cNvPr>
          <p:cNvCxnSpPr>
            <a:stCxn id="16" idx="1"/>
          </p:cNvCxnSpPr>
          <p:nvPr/>
        </p:nvCxnSpPr>
        <p:spPr>
          <a:xfrm flipH="1" flipV="1">
            <a:off x="6997148" y="4845765"/>
            <a:ext cx="118358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72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1D4F173-6362-45A9-81E8-FFB075D0D719}"/>
              </a:ext>
            </a:extLst>
          </p:cNvPr>
          <p:cNvSpPr txBox="1"/>
          <p:nvPr/>
        </p:nvSpPr>
        <p:spPr>
          <a:xfrm>
            <a:off x="8056176" y="4244759"/>
            <a:ext cx="152317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Revisa os arquivos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25CBFB2-F967-44F3-9B13-76C8B75C2DB5}"/>
              </a:ext>
            </a:extLst>
          </p:cNvPr>
          <p:cNvSpPr txBox="1"/>
          <p:nvPr/>
        </p:nvSpPr>
        <p:spPr>
          <a:xfrm>
            <a:off x="3624176" y="1181853"/>
            <a:ext cx="4833374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Compara dois arquivos em .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jpg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, ao final retorna marcações em azul.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4CBF384-B44B-44F4-99DC-D7FE7C9AA6EA}"/>
              </a:ext>
            </a:extLst>
          </p:cNvPr>
          <p:cNvSpPr txBox="1"/>
          <p:nvPr/>
        </p:nvSpPr>
        <p:spPr>
          <a:xfrm>
            <a:off x="4346171" y="4572092"/>
            <a:ext cx="3499676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Indicador do arquivo que está sendo processado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0EFFA495-9D5B-4014-BD1B-055EA1C32834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6096003" y="4295095"/>
            <a:ext cx="6" cy="276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4B466EF-4B9A-4F74-9355-DACC0A1FAF27}"/>
              </a:ext>
            </a:extLst>
          </p:cNvPr>
          <p:cNvSpPr txBox="1"/>
          <p:nvPr/>
        </p:nvSpPr>
        <p:spPr>
          <a:xfrm>
            <a:off x="258511" y="6350558"/>
            <a:ext cx="5782352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Os arquivos devem seguir o formato de fluxograma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-revisão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FLX.0001-rev0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BBC6DEF-3B83-40AE-9D58-AF3F186E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487" y="1857375"/>
            <a:ext cx="3629025" cy="314325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6E16FB7F-4D35-4947-B9B9-BB2ACFFFADA6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377343" y="4383259"/>
            <a:ext cx="26788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12E46AF9-496C-4BAE-BC31-12D6705DF9D5}"/>
              </a:ext>
            </a:extLst>
          </p:cNvPr>
          <p:cNvSpPr txBox="1"/>
          <p:nvPr/>
        </p:nvSpPr>
        <p:spPr>
          <a:xfrm>
            <a:off x="258511" y="2487806"/>
            <a:ext cx="319775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o explorador de arquivos no modo seleção de pasta.</a:t>
            </a:r>
          </a:p>
        </p:txBody>
      </p:sp>
      <p:cxnSp>
        <p:nvCxnSpPr>
          <p:cNvPr id="5" name="Conector: Angulado 4">
            <a:extLst>
              <a:ext uri="{FF2B5EF4-FFF2-40B4-BE49-F238E27FC236}">
                <a16:creationId xmlns:a16="http://schemas.microsoft.com/office/drawing/2014/main" id="{135DA4E1-1A16-400D-AEB4-A8B4F0DC0628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3059417" y="1747442"/>
            <a:ext cx="276998" cy="26810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ector: Angulado 5">
            <a:extLst>
              <a:ext uri="{FF2B5EF4-FFF2-40B4-BE49-F238E27FC236}">
                <a16:creationId xmlns:a16="http://schemas.microsoft.com/office/drawing/2014/main" id="{BC288E60-5B26-4AC5-BD10-B5770A6149D4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2785130" y="2021729"/>
            <a:ext cx="825575" cy="26810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466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5D6F630-58BA-4EB3-B5FF-C6C7611898E4}"/>
              </a:ext>
            </a:extLst>
          </p:cNvPr>
          <p:cNvSpPr txBox="1"/>
          <p:nvPr/>
        </p:nvSpPr>
        <p:spPr>
          <a:xfrm>
            <a:off x="1433692" y="2081999"/>
            <a:ext cx="2106595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Revisa uma lista de Isométricos em PDF utilizando processamento digital de imagens para procurar a palavra ‘FAIL’ no canto superior esquerdo do documento. Basta um click no botão e apontar o diretório no qual os arquivos se encontram.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A5CDB89-09BF-4AD9-B026-16903B0DF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2299238"/>
            <a:ext cx="1981200" cy="1571625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FB600FB5-8C99-4B24-BA6F-9159BF6B8887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540287" y="3051495"/>
            <a:ext cx="17882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3656D1-06CF-4435-B4D7-C446163C286B}"/>
              </a:ext>
            </a:extLst>
          </p:cNvPr>
          <p:cNvSpPr txBox="1"/>
          <p:nvPr/>
        </p:nvSpPr>
        <p:spPr>
          <a:xfrm>
            <a:off x="4674900" y="775743"/>
            <a:ext cx="2842199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Quando o programa termina, uma mensagem de conclusão aparece e um arquivo .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txt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é gerado na pasta escolhida com os nomes dos Isométricos que apresentam falha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9D99D68-DFCF-4FAF-9235-55A240D06003}"/>
              </a:ext>
            </a:extLst>
          </p:cNvPr>
          <p:cNvSpPr txBox="1"/>
          <p:nvPr/>
        </p:nvSpPr>
        <p:spPr>
          <a:xfrm>
            <a:off x="4649733" y="4353528"/>
            <a:ext cx="2931953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 barra de progresso passa por etapas distintas dependendo da função:</a:t>
            </a:r>
          </a:p>
          <a:p>
            <a:pPr algn="just"/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FAIL: Cerca de 20 segundos/item</a:t>
            </a:r>
          </a:p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Apenas a sequencia de verificação do texto ‘FAIL’ no corpo do isométrico.</a:t>
            </a:r>
          </a:p>
          <a:p>
            <a:pPr algn="just"/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COD: </a:t>
            </a:r>
          </a:p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1. Triagem dos documentos;</a:t>
            </a:r>
          </a:p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2. Conversão DWG 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PDF;</a:t>
            </a:r>
          </a:p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Verificação dos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PDFs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por OCR.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602E60D8-0B2D-4403-BCCA-2F2D215CC0F0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H="1">
            <a:off x="4649733" y="3464657"/>
            <a:ext cx="559830" cy="1766034"/>
          </a:xfrm>
          <a:prstGeom prst="bentConnector4">
            <a:avLst>
              <a:gd name="adj1" fmla="val -40834"/>
              <a:gd name="adj2" fmla="val 10048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264E199-3381-4C74-9997-E1EC18EB183D}"/>
              </a:ext>
            </a:extLst>
          </p:cNvPr>
          <p:cNvSpPr txBox="1"/>
          <p:nvPr/>
        </p:nvSpPr>
        <p:spPr>
          <a:xfrm>
            <a:off x="7742466" y="2667324"/>
            <a:ext cx="198120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Verifica se o código dos itens vieram zerados nos isométricos. Mais detalhes estão no próximo slide.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E69369FF-E3C3-4A0D-96F2-F4B05A4D112C}"/>
              </a:ext>
            </a:extLst>
          </p:cNvPr>
          <p:cNvCxnSpPr>
            <a:cxnSpLocks/>
          </p:cNvCxnSpPr>
          <p:nvPr/>
        </p:nvCxnSpPr>
        <p:spPr>
          <a:xfrm flipH="1" flipV="1">
            <a:off x="6863445" y="3043105"/>
            <a:ext cx="879021" cy="12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20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eta: para a Direita 35">
            <a:extLst>
              <a:ext uri="{FF2B5EF4-FFF2-40B4-BE49-F238E27FC236}">
                <a16:creationId xmlns:a16="http://schemas.microsoft.com/office/drawing/2014/main" id="{0D12EF84-5F06-46DA-92CB-0FBC5BEE8D13}"/>
              </a:ext>
            </a:extLst>
          </p:cNvPr>
          <p:cNvSpPr/>
          <p:nvPr/>
        </p:nvSpPr>
        <p:spPr>
          <a:xfrm rot="16200000">
            <a:off x="1427266" y="2955099"/>
            <a:ext cx="1098443" cy="288032"/>
          </a:xfrm>
          <a:prstGeom prst="rightArrow">
            <a:avLst/>
          </a:prstGeom>
          <a:solidFill>
            <a:srgbClr val="F58C32"/>
          </a:solidFill>
          <a:ln>
            <a:solidFill>
              <a:srgbClr val="F58C3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Grupo 4"/>
          <p:cNvGrpSpPr/>
          <p:nvPr/>
        </p:nvGrpSpPr>
        <p:grpSpPr>
          <a:xfrm>
            <a:off x="1199456" y="98225"/>
            <a:ext cx="10992544" cy="622606"/>
            <a:chOff x="1429132" y="98225"/>
            <a:chExt cx="10762868" cy="622606"/>
          </a:xfrm>
        </p:grpSpPr>
        <p:sp>
          <p:nvSpPr>
            <p:cNvPr id="2" name="Retângulo 1"/>
            <p:cNvSpPr/>
            <p:nvPr/>
          </p:nvSpPr>
          <p:spPr>
            <a:xfrm flipV="1">
              <a:off x="1556972" y="381392"/>
              <a:ext cx="10635028" cy="56271"/>
            </a:xfrm>
            <a:prstGeom prst="rect">
              <a:avLst/>
            </a:prstGeom>
            <a:solidFill>
              <a:srgbClr val="FF9933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pt-BR" dirty="0">
                <a:solidFill>
                  <a:srgbClr val="CC5300"/>
                </a:solidFill>
              </a:endParaRPr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1429132" y="98225"/>
              <a:ext cx="1743286" cy="622606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none" anchor="ctr" anchorCtr="0">
              <a:spAutoFit/>
            </a:bodyPr>
            <a:lstStyle/>
            <a:p>
              <a:pPr eaLnBrk="1" hangingPunct="1">
                <a:defRPr/>
              </a:pPr>
              <a:r>
                <a:rPr lang="pt-BR" sz="3446" b="0" dirty="0">
                  <a:solidFill>
                    <a:srgbClr val="FE8C3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A1Verify</a:t>
              </a:r>
              <a:endParaRPr lang="pt-BR" sz="3446" dirty="0">
                <a:solidFill>
                  <a:srgbClr val="FE8C3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43" name="Seta: para a Direita 42">
            <a:extLst>
              <a:ext uri="{FF2B5EF4-FFF2-40B4-BE49-F238E27FC236}">
                <a16:creationId xmlns:a16="http://schemas.microsoft.com/office/drawing/2014/main" id="{326BE108-1119-4840-AA17-097330161A93}"/>
              </a:ext>
            </a:extLst>
          </p:cNvPr>
          <p:cNvSpPr/>
          <p:nvPr/>
        </p:nvSpPr>
        <p:spPr>
          <a:xfrm rot="16200000">
            <a:off x="5011471" y="2911557"/>
            <a:ext cx="1098443" cy="288032"/>
          </a:xfrm>
          <a:prstGeom prst="rightArrow">
            <a:avLst/>
          </a:prstGeom>
          <a:solidFill>
            <a:srgbClr val="F58C32"/>
          </a:solidFill>
          <a:ln>
            <a:solidFill>
              <a:srgbClr val="F58C3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Seta: para a Direita 44">
            <a:extLst>
              <a:ext uri="{FF2B5EF4-FFF2-40B4-BE49-F238E27FC236}">
                <a16:creationId xmlns:a16="http://schemas.microsoft.com/office/drawing/2014/main" id="{E6BC5A17-B9C2-4241-9024-448C91110FA2}"/>
              </a:ext>
            </a:extLst>
          </p:cNvPr>
          <p:cNvSpPr/>
          <p:nvPr/>
        </p:nvSpPr>
        <p:spPr>
          <a:xfrm rot="16200000">
            <a:off x="8444114" y="2954978"/>
            <a:ext cx="1098443" cy="288032"/>
          </a:xfrm>
          <a:prstGeom prst="rightArrow">
            <a:avLst/>
          </a:prstGeom>
          <a:solidFill>
            <a:srgbClr val="F58C32"/>
          </a:solidFill>
          <a:ln>
            <a:solidFill>
              <a:srgbClr val="F58C3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Seta: para a Direita 62">
            <a:extLst>
              <a:ext uri="{FF2B5EF4-FFF2-40B4-BE49-F238E27FC236}">
                <a16:creationId xmlns:a16="http://schemas.microsoft.com/office/drawing/2014/main" id="{7195D50E-B0BC-40D9-8EA7-304864EA0E05}"/>
              </a:ext>
            </a:extLst>
          </p:cNvPr>
          <p:cNvSpPr/>
          <p:nvPr/>
        </p:nvSpPr>
        <p:spPr>
          <a:xfrm rot="5400000">
            <a:off x="3170514" y="4081984"/>
            <a:ext cx="1098443" cy="288032"/>
          </a:xfrm>
          <a:prstGeom prst="rightArrow">
            <a:avLst/>
          </a:prstGeom>
          <a:solidFill>
            <a:srgbClr val="F58C32"/>
          </a:solidFill>
          <a:ln>
            <a:solidFill>
              <a:srgbClr val="F58C3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Seta: para a Direita 64">
            <a:extLst>
              <a:ext uri="{FF2B5EF4-FFF2-40B4-BE49-F238E27FC236}">
                <a16:creationId xmlns:a16="http://schemas.microsoft.com/office/drawing/2014/main" id="{A93AA98C-712E-41AF-81E3-73B3A1398D71}"/>
              </a:ext>
            </a:extLst>
          </p:cNvPr>
          <p:cNvSpPr/>
          <p:nvPr/>
        </p:nvSpPr>
        <p:spPr>
          <a:xfrm rot="5400000">
            <a:off x="6826079" y="4100331"/>
            <a:ext cx="1098443" cy="288032"/>
          </a:xfrm>
          <a:prstGeom prst="rightArrow">
            <a:avLst/>
          </a:prstGeom>
          <a:solidFill>
            <a:srgbClr val="F58C32"/>
          </a:solidFill>
          <a:ln>
            <a:solidFill>
              <a:srgbClr val="F58C3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AF2CE05-FECB-47A1-8CC2-D547FD36240A}"/>
              </a:ext>
            </a:extLst>
          </p:cNvPr>
          <p:cNvSpPr/>
          <p:nvPr/>
        </p:nvSpPr>
        <p:spPr>
          <a:xfrm>
            <a:off x="1847527" y="3429000"/>
            <a:ext cx="8136905" cy="459297"/>
          </a:xfrm>
          <a:prstGeom prst="rightArrow">
            <a:avLst/>
          </a:prstGeom>
          <a:solidFill>
            <a:srgbClr val="F58C32"/>
          </a:solidFill>
          <a:ln>
            <a:solidFill>
              <a:srgbClr val="F58C3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1690641-E39D-42C2-87E7-73FA1B7CA2DB}"/>
              </a:ext>
            </a:extLst>
          </p:cNvPr>
          <p:cNvSpPr/>
          <p:nvPr/>
        </p:nvSpPr>
        <p:spPr>
          <a:xfrm>
            <a:off x="1751766" y="3429000"/>
            <a:ext cx="455802" cy="4592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F58C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82076922-9404-48FE-B30F-3F8906AF1662}"/>
              </a:ext>
            </a:extLst>
          </p:cNvPr>
          <p:cNvSpPr/>
          <p:nvPr/>
        </p:nvSpPr>
        <p:spPr>
          <a:xfrm>
            <a:off x="3480289" y="3418568"/>
            <a:ext cx="490047" cy="48468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F58C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CDB41BEB-1657-4993-A8A8-E40B6C3FFA34}"/>
              </a:ext>
            </a:extLst>
          </p:cNvPr>
          <p:cNvSpPr/>
          <p:nvPr/>
        </p:nvSpPr>
        <p:spPr>
          <a:xfrm>
            <a:off x="5348111" y="3376367"/>
            <a:ext cx="471622" cy="4846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F58C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CF3FCD86-3CB7-48C8-A6F6-69373E3E943D}"/>
              </a:ext>
            </a:extLst>
          </p:cNvPr>
          <p:cNvSpPr/>
          <p:nvPr/>
        </p:nvSpPr>
        <p:spPr>
          <a:xfrm>
            <a:off x="7153389" y="3418567"/>
            <a:ext cx="455802" cy="4592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F58C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7" name="Imagem 6" descr="Fundo preto com letras brancas&#10;&#10;Descrição gerada automaticamente">
            <a:extLst>
              <a:ext uri="{FF2B5EF4-FFF2-40B4-BE49-F238E27FC236}">
                <a16:creationId xmlns:a16="http://schemas.microsoft.com/office/drawing/2014/main" id="{9D153F33-A50C-4E1E-A0D9-1BC75F1717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466" y="1003998"/>
            <a:ext cx="1435296" cy="1435296"/>
          </a:xfrm>
          <a:prstGeom prst="rect">
            <a:avLst/>
          </a:prstGeom>
        </p:spPr>
      </p:pic>
      <p:pic>
        <p:nvPicPr>
          <p:cNvPr id="13" name="Imagem 12" descr="Uma imagem contendo monitor, tela, relógio, televisão&#10;&#10;Descrição gerada automaticamente">
            <a:extLst>
              <a:ext uri="{FF2B5EF4-FFF2-40B4-BE49-F238E27FC236}">
                <a16:creationId xmlns:a16="http://schemas.microsoft.com/office/drawing/2014/main" id="{8D9319F1-B6A2-483C-A7EF-2C4B099D7C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602" y="4646016"/>
            <a:ext cx="1764205" cy="1764205"/>
          </a:xfrm>
          <a:prstGeom prst="rect">
            <a:avLst/>
          </a:prstGeom>
        </p:spPr>
      </p:pic>
      <p:pic>
        <p:nvPicPr>
          <p:cNvPr id="18" name="Imagem 17" descr="Uma imagem contendo desenho, relógio&#10;&#10;Descrição gerada automaticamente">
            <a:extLst>
              <a:ext uri="{FF2B5EF4-FFF2-40B4-BE49-F238E27FC236}">
                <a16:creationId xmlns:a16="http://schemas.microsoft.com/office/drawing/2014/main" id="{CDB86F1B-7B81-4980-BD92-A0C5B95837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250" b="96094" l="10000" r="90000">
                        <a14:foregroundMark x1="21000" y1="27344" x2="33333" y2="10156"/>
                        <a14:foregroundMark x1="33333" y1="10156" x2="71333" y2="15234"/>
                        <a14:foregroundMark x1="20000" y1="18750" x2="27000" y2="6250"/>
                        <a14:foregroundMark x1="17333" y1="92578" x2="52000" y2="96094"/>
                        <a14:foregroundMark x1="52000" y1="96094" x2="78333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985" y="4335521"/>
            <a:ext cx="807048" cy="688681"/>
          </a:xfrm>
          <a:prstGeom prst="rect">
            <a:avLst/>
          </a:prstGeom>
        </p:spPr>
      </p:pic>
      <p:pic>
        <p:nvPicPr>
          <p:cNvPr id="19" name="Picture 2" descr="Pdf icon | Free Download">
            <a:extLst>
              <a:ext uri="{FF2B5EF4-FFF2-40B4-BE49-F238E27FC236}">
                <a16:creationId xmlns:a16="http://schemas.microsoft.com/office/drawing/2014/main" id="{160FBBA3-479A-4CE3-94C9-EA88E3B04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4389957"/>
            <a:ext cx="622607" cy="62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ícone A dassault, systemes, draftsight Livre de Papirus Apps">
            <a:extLst>
              <a:ext uri="{FF2B5EF4-FFF2-40B4-BE49-F238E27FC236}">
                <a16:creationId xmlns:a16="http://schemas.microsoft.com/office/drawing/2014/main" id="{A472F86A-6ECE-439C-BEF0-9780E0477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667" b="94667" l="8000" r="89778">
                        <a14:foregroundMark x1="10667" y1="38222" x2="8444" y2="34222"/>
                        <a14:foregroundMark x1="44889" y1="6667" x2="48000" y2="11556"/>
                        <a14:foregroundMark x1="47111" y1="90667" x2="88889" y2="94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125" y="1083306"/>
            <a:ext cx="1431603" cy="1431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FA1B1509-C17A-4EFF-957D-DE35ABF2E7C1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462" b="76151" l="10000" r="90000">
                        <a14:foregroundMark x1="39400" y1="40278" x2="39800" y2="39167"/>
                        <a14:foregroundMark x1="52600" y1="39352" x2="51500" y2="38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388"/>
          <a:stretch/>
        </p:blipFill>
        <p:spPr>
          <a:xfrm>
            <a:off x="4379573" y="331605"/>
            <a:ext cx="1846662" cy="1687511"/>
          </a:xfrm>
          <a:prstGeom prst="rect">
            <a:avLst/>
          </a:prstGeom>
        </p:spPr>
      </p:pic>
      <p:pic>
        <p:nvPicPr>
          <p:cNvPr id="22" name="Imagem 21" descr="Uma imagem contendo desenho, relógio&#10;&#10;Descrição gerada automaticamente">
            <a:extLst>
              <a:ext uri="{FF2B5EF4-FFF2-40B4-BE49-F238E27FC236}">
                <a16:creationId xmlns:a16="http://schemas.microsoft.com/office/drawing/2014/main" id="{3E99A73D-E65E-43A5-8937-41DDB5201BE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6250" b="96094" l="10000" r="90000">
                        <a14:foregroundMark x1="21000" y1="27344" x2="33333" y2="10156"/>
                        <a14:foregroundMark x1="33333" y1="10156" x2="71333" y2="15234"/>
                        <a14:foregroundMark x1="20000" y1="18750" x2="27000" y2="6250"/>
                        <a14:foregroundMark x1="17333" y1="92578" x2="52000" y2="96094"/>
                        <a14:foregroundMark x1="52000" y1="96094" x2="78333" y2="957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033" y="1021707"/>
            <a:ext cx="807048" cy="688681"/>
          </a:xfrm>
          <a:prstGeom prst="rect">
            <a:avLst/>
          </a:prstGeom>
        </p:spPr>
      </p:pic>
      <p:pic>
        <p:nvPicPr>
          <p:cNvPr id="27" name="Picture 2" descr="Pdf icon | Free Download">
            <a:extLst>
              <a:ext uri="{FF2B5EF4-FFF2-40B4-BE49-F238E27FC236}">
                <a16:creationId xmlns:a16="http://schemas.microsoft.com/office/drawing/2014/main" id="{E0895429-4AA7-4ADC-AC6A-EB205563B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958" y="2483539"/>
            <a:ext cx="622607" cy="62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Seta: para a Direita 46">
            <a:extLst>
              <a:ext uri="{FF2B5EF4-FFF2-40B4-BE49-F238E27FC236}">
                <a16:creationId xmlns:a16="http://schemas.microsoft.com/office/drawing/2014/main" id="{558BE41B-8B92-4113-8C00-BB80CD5F7153}"/>
              </a:ext>
            </a:extLst>
          </p:cNvPr>
          <p:cNvSpPr/>
          <p:nvPr/>
        </p:nvSpPr>
        <p:spPr>
          <a:xfrm rot="5400000">
            <a:off x="6052262" y="2049444"/>
            <a:ext cx="742922" cy="188007"/>
          </a:xfrm>
          <a:prstGeom prst="rightArrow">
            <a:avLst/>
          </a:prstGeom>
          <a:solidFill>
            <a:srgbClr val="F58C32"/>
          </a:solidFill>
          <a:ln>
            <a:solidFill>
              <a:srgbClr val="F58C3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9" name="Imagem 38" descr="Fundo preto com letras brancas&#10;&#10;Descrição gerada automaticamente">
            <a:extLst>
              <a:ext uri="{FF2B5EF4-FFF2-40B4-BE49-F238E27FC236}">
                <a16:creationId xmlns:a16="http://schemas.microsoft.com/office/drawing/2014/main" id="{9B6B084C-F413-45AD-8FD0-F5E0EC88BD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089" y="4831285"/>
            <a:ext cx="3412422" cy="1160223"/>
          </a:xfrm>
          <a:prstGeom prst="rect">
            <a:avLst/>
          </a:prstGeom>
        </p:spPr>
      </p:pic>
      <p:sp>
        <p:nvSpPr>
          <p:cNvPr id="52" name="Elipse 51">
            <a:extLst>
              <a:ext uri="{FF2B5EF4-FFF2-40B4-BE49-F238E27FC236}">
                <a16:creationId xmlns:a16="http://schemas.microsoft.com/office/drawing/2014/main" id="{116B7F0A-1FC4-44AF-8C81-912BF114687A}"/>
              </a:ext>
            </a:extLst>
          </p:cNvPr>
          <p:cNvSpPr/>
          <p:nvPr/>
        </p:nvSpPr>
        <p:spPr>
          <a:xfrm>
            <a:off x="8781270" y="3382377"/>
            <a:ext cx="455802" cy="45929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F58C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45196246-2881-4B9E-AD0C-C1E3F861FFE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>
                        <a14:foregroundMark x1="44222" y1="49192" x2="59778" y2="261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09690" y="854273"/>
            <a:ext cx="745951" cy="564436"/>
          </a:xfrm>
          <a:prstGeom prst="rect">
            <a:avLst/>
          </a:prstGeom>
        </p:spPr>
      </p:pic>
      <p:pic>
        <p:nvPicPr>
          <p:cNvPr id="50" name="Imagem 49" descr="Uma imagem contendo relógio&#10;&#10;Descrição gerada automaticamente">
            <a:extLst>
              <a:ext uri="{FF2B5EF4-FFF2-40B4-BE49-F238E27FC236}">
                <a16:creationId xmlns:a16="http://schemas.microsoft.com/office/drawing/2014/main" id="{F19B04EC-50EE-47D5-A5D0-05A040F7D18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871" b="99129" l="109" r="93370">
                        <a14:foregroundMark x1="7717" y1="3808" x2="52826" y2="29380"/>
                        <a14:foregroundMark x1="52826" y1="29380" x2="72065" y2="35909"/>
                        <a14:foregroundMark x1="72065" y1="35909" x2="65000" y2="34603"/>
                        <a14:foregroundMark x1="65000" y1="34603" x2="52935" y2="27530"/>
                        <a14:foregroundMark x1="52935" y1="27530" x2="48261" y2="20783"/>
                        <a14:foregroundMark x1="48261" y1="20783" x2="59674" y2="21654"/>
                        <a14:foregroundMark x1="59674" y1="21654" x2="61196" y2="12078"/>
                        <a14:foregroundMark x1="61196" y1="12078" x2="54565" y2="2503"/>
                        <a14:foregroundMark x1="54565" y1="2503" x2="43370" y2="3156"/>
                        <a14:foregroundMark x1="43370" y1="3156" x2="37609" y2="8161"/>
                        <a14:foregroundMark x1="37609" y1="8161" x2="27500" y2="22416"/>
                        <a14:foregroundMark x1="27500" y1="22416" x2="17065" y2="20022"/>
                        <a14:foregroundMark x1="17065" y1="20022" x2="1413" y2="6855"/>
                        <a14:foregroundMark x1="1413" y1="6855" x2="5978" y2="14690"/>
                        <a14:foregroundMark x1="5978" y1="14690" x2="3696" y2="95539"/>
                        <a14:foregroundMark x1="3696" y1="95539" x2="58478" y2="99891"/>
                        <a14:foregroundMark x1="58478" y1="99891" x2="73804" y2="98803"/>
                        <a14:foregroundMark x1="73804" y1="98803" x2="74130" y2="68662"/>
                        <a14:foregroundMark x1="74130" y1="68662" x2="78478" y2="62894"/>
                        <a14:foregroundMark x1="78478" y1="62894" x2="87609" y2="62242"/>
                        <a14:foregroundMark x1="87609" y1="62242" x2="91848" y2="56474"/>
                        <a14:foregroundMark x1="91848" y1="56474" x2="93696" y2="48640"/>
                        <a14:foregroundMark x1="93696" y1="48640" x2="91522" y2="41893"/>
                        <a14:foregroundMark x1="91522" y1="41893" x2="86196" y2="36888"/>
                        <a14:foregroundMark x1="86196" y1="36888" x2="78370" y2="34712"/>
                        <a14:foregroundMark x1="78370" y1="34712" x2="72174" y2="45158"/>
                        <a14:foregroundMark x1="72174" y1="45158" x2="72826" y2="52448"/>
                        <a14:foregroundMark x1="72826" y1="52448" x2="90000" y2="49946"/>
                        <a14:foregroundMark x1="90000" y1="49946" x2="90000" y2="49946"/>
                        <a14:foregroundMark x1="90000" y1="49946" x2="57609" y2="37323"/>
                        <a14:foregroundMark x1="57609" y1="37323" x2="60435" y2="44723"/>
                        <a14:foregroundMark x1="60435" y1="44723" x2="63913" y2="45702"/>
                        <a14:foregroundMark x1="46196" y1="4679" x2="326" y2="4679"/>
                        <a14:foregroundMark x1="5978" y1="94777" x2="30000" y2="99347"/>
                        <a14:foregroundMark x1="30000" y1="99347" x2="64783" y2="95647"/>
                        <a14:foregroundMark x1="65217" y1="45919" x2="63370" y2="52884"/>
                        <a14:foregroundMark x1="63370" y1="52884" x2="68913" y2="59195"/>
                        <a14:foregroundMark x1="68913" y1="59195" x2="73478" y2="60501"/>
                        <a14:foregroundMark x1="11304" y1="871" x2="17391" y2="1741"/>
                        <a14:foregroundMark x1="77065" y1="33188" x2="84457" y2="34929"/>
                        <a14:foregroundMark x1="84457" y1="34929" x2="90326" y2="38847"/>
                        <a14:foregroundMark x1="90326" y1="38847" x2="90761" y2="42111"/>
                        <a14:foregroundMark x1="78804" y1="32753" x2="87826" y2="36561"/>
                        <a14:foregroundMark x1="89348" y1="61806" x2="93370" y2="55822"/>
                        <a14:foregroundMark x1="93370" y1="55822" x2="93370" y2="558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544" y="790207"/>
            <a:ext cx="1650881" cy="1649087"/>
          </a:xfrm>
          <a:prstGeom prst="rect">
            <a:avLst/>
          </a:prstGeom>
        </p:spPr>
      </p:pic>
      <p:pic>
        <p:nvPicPr>
          <p:cNvPr id="55" name="Imagem 54" descr="Fundo preto com letras brancas&#10;&#10;Descrição gerada automaticamente">
            <a:extLst>
              <a:ext uri="{FF2B5EF4-FFF2-40B4-BE49-F238E27FC236}">
                <a16:creationId xmlns:a16="http://schemas.microsoft.com/office/drawing/2014/main" id="{5F8932B6-31BB-4B90-B261-905E16E6F32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456" y="2708920"/>
            <a:ext cx="1504146" cy="1887555"/>
          </a:xfrm>
          <a:prstGeom prst="rect">
            <a:avLst/>
          </a:prstGeom>
        </p:spPr>
      </p:pic>
      <p:sp>
        <p:nvSpPr>
          <p:cNvPr id="56" name="CaixaDeTexto 55">
            <a:extLst>
              <a:ext uri="{FF2B5EF4-FFF2-40B4-BE49-F238E27FC236}">
                <a16:creationId xmlns:a16="http://schemas.microsoft.com/office/drawing/2014/main" id="{596B47C8-493E-49C6-846C-47E127356E6D}"/>
              </a:ext>
            </a:extLst>
          </p:cNvPr>
          <p:cNvSpPr txBox="1"/>
          <p:nvPr/>
        </p:nvSpPr>
        <p:spPr bwMode="auto">
          <a:xfrm flipH="1">
            <a:off x="2093772" y="2771136"/>
            <a:ext cx="1658018" cy="632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1300" b="0" dirty="0">
                <a:latin typeface="Tahoma" charset="0"/>
                <a:cs typeface="Tahoma" charset="0"/>
              </a:rPr>
              <a:t>Download e descompactação manual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4328A661-A363-4DFD-95CB-53598EB35AA1}"/>
              </a:ext>
            </a:extLst>
          </p:cNvPr>
          <p:cNvSpPr txBox="1"/>
          <p:nvPr/>
        </p:nvSpPr>
        <p:spPr bwMode="auto">
          <a:xfrm flipH="1">
            <a:off x="3801659" y="3893165"/>
            <a:ext cx="1294650" cy="45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1300" b="0" dirty="0">
                <a:latin typeface="Tahoma" charset="0"/>
                <a:cs typeface="Tahoma" charset="0"/>
              </a:rPr>
              <a:t>Triagem dos arquivos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D914EE4B-8136-459F-AA85-C63A49BA2CD9}"/>
              </a:ext>
            </a:extLst>
          </p:cNvPr>
          <p:cNvSpPr txBox="1"/>
          <p:nvPr/>
        </p:nvSpPr>
        <p:spPr bwMode="auto">
          <a:xfrm flipH="1">
            <a:off x="4223792" y="2276872"/>
            <a:ext cx="1294650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1300" b="0" dirty="0">
                <a:latin typeface="Tahoma" charset="0"/>
                <a:cs typeface="Tahoma" charset="0"/>
              </a:rPr>
              <a:t>Conexão </a:t>
            </a:r>
            <a:r>
              <a:rPr lang="pt-BR" sz="1300" b="0" dirty="0" err="1">
                <a:latin typeface="Tahoma" charset="0"/>
                <a:cs typeface="Tahoma" charset="0"/>
              </a:rPr>
              <a:t>DraftSight</a:t>
            </a:r>
            <a:r>
              <a:rPr lang="pt-BR" sz="1300" b="0" dirty="0">
                <a:latin typeface="Tahoma" charset="0"/>
                <a:cs typeface="Tahoma" charset="0"/>
              </a:rPr>
              <a:t> e conversão DWG para PDF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F82E9D0E-1DEE-4BA2-91D4-3EF87C74E050}"/>
              </a:ext>
            </a:extLst>
          </p:cNvPr>
          <p:cNvSpPr txBox="1"/>
          <p:nvPr/>
        </p:nvSpPr>
        <p:spPr bwMode="auto">
          <a:xfrm flipH="1">
            <a:off x="7507240" y="4100050"/>
            <a:ext cx="1294650" cy="992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1300" b="0" dirty="0">
                <a:latin typeface="Tahoma" charset="0"/>
                <a:cs typeface="Tahoma" charset="0"/>
              </a:rPr>
              <a:t>Conversão de PDF para imagem e execução do OCR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780A554B-616B-4E19-981D-EB3CA535C783}"/>
              </a:ext>
            </a:extLst>
          </p:cNvPr>
          <p:cNvSpPr txBox="1"/>
          <p:nvPr/>
        </p:nvSpPr>
        <p:spPr bwMode="auto">
          <a:xfrm flipH="1">
            <a:off x="7680176" y="2441296"/>
            <a:ext cx="1294650" cy="81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1300" b="0" dirty="0">
                <a:latin typeface="Tahoma" charset="0"/>
                <a:cs typeface="Tahoma" charset="0"/>
              </a:rPr>
              <a:t>Processamento do texto para formato digital + análises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D6EE6042-30AC-48A5-998A-6022017EAD68}"/>
              </a:ext>
            </a:extLst>
          </p:cNvPr>
          <p:cNvSpPr txBox="1"/>
          <p:nvPr/>
        </p:nvSpPr>
        <p:spPr bwMode="auto">
          <a:xfrm flipH="1">
            <a:off x="10305204" y="4663665"/>
            <a:ext cx="1294650" cy="2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pt-BR" sz="1300" b="0" dirty="0">
                <a:latin typeface="Tahoma" charset="0"/>
                <a:cs typeface="Tahoma" charset="0"/>
              </a:rPr>
              <a:t>Relatório Final</a:t>
            </a:r>
          </a:p>
        </p:txBody>
      </p:sp>
    </p:spTree>
    <p:extLst>
      <p:ext uri="{BB962C8B-B14F-4D97-AF65-F5344CB8AC3E}">
        <p14:creationId xmlns:p14="http://schemas.microsoft.com/office/powerpoint/2010/main" val="26882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3" grpId="0" animBg="1"/>
      <p:bldP spid="45" grpId="0" animBg="1"/>
      <p:bldP spid="63" grpId="0" animBg="1"/>
      <p:bldP spid="65" grpId="0" animBg="1"/>
      <p:bldP spid="24" grpId="0" animBg="1"/>
      <p:bldP spid="25" grpId="0" animBg="1"/>
      <p:bldP spid="26" grpId="0" animBg="1"/>
      <p:bldP spid="28" grpId="0" animBg="1"/>
      <p:bldP spid="47" grpId="0" animBg="1"/>
      <p:bldP spid="5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1C2E58-3E8D-4065-AE47-CEC9FC025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933575"/>
            <a:ext cx="3962400" cy="299085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3CDDF32-E696-468E-82A3-4FB6D3653711}"/>
              </a:ext>
            </a:extLst>
          </p:cNvPr>
          <p:cNvSpPr txBox="1"/>
          <p:nvPr/>
        </p:nvSpPr>
        <p:spPr>
          <a:xfrm>
            <a:off x="8383629" y="185318"/>
            <a:ext cx="357905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Esse botão descompacta as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e faz triagem dos documentos, classificando-os em:</a:t>
            </a:r>
          </a:p>
          <a:p>
            <a:pPr marL="228600" indent="-228600" algn="just">
              <a:buAutoNum type="arabicPeriod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Novos: Não cadastrados no DB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greendocs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28600" indent="-228600" algn="just">
              <a:buAutoNum type="arabicPeriod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Cadastrados: Cujo cadastro foi encontrado com qualquer um dos três códigos da GR, tais documentos são </a:t>
            </a: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atualizados no </a:t>
            </a:r>
            <a:r>
              <a:rPr lang="pt-B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greendocs</a:t>
            </a: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 automaticamente nesse instante.</a:t>
            </a:r>
          </a:p>
          <a:p>
            <a:pPr marL="228600" indent="-228600" algn="just">
              <a:buAutoNum type="arabicPeriod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Cadastrados com revisão Letra: Arquivos cuja revisão é uma letra e deve ser incrementado como ‘x.1’.</a:t>
            </a:r>
          </a:p>
          <a:p>
            <a:pPr marL="228600" indent="-228600" algn="just">
              <a:buAutoNum type="arabicPeriod"/>
            </a:pP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Ver_menor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Aqueles que apresentam revisão menor ou igual a do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greendocs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doc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de revisão 5 na GR e 7 no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greendocs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, pode ser obsoleto ou não, então é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alocano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nessa LD).</a:t>
            </a:r>
          </a:p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Criando assim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LDs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únicas com todos os docs.</a:t>
            </a:r>
          </a:p>
        </p:txBody>
      </p: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C3325F7E-190F-4C52-B15C-30E34CEFC87A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 flipH="1">
            <a:off x="8821028" y="1695514"/>
            <a:ext cx="396718" cy="2307534"/>
          </a:xfrm>
          <a:prstGeom prst="bentConnector4">
            <a:avLst>
              <a:gd name="adj1" fmla="val -57623"/>
              <a:gd name="adj2" fmla="val 887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69CC8A2A-9BBB-4E8C-8893-CA8D22BA0710}"/>
              </a:ext>
            </a:extLst>
          </p:cNvPr>
          <p:cNvSpPr/>
          <p:nvPr/>
        </p:nvSpPr>
        <p:spPr>
          <a:xfrm>
            <a:off x="4138611" y="2368518"/>
            <a:ext cx="2153131" cy="18459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215BFDD-DD10-450E-AAC9-69A7852FB21B}"/>
              </a:ext>
            </a:extLst>
          </p:cNvPr>
          <p:cNvSpPr txBox="1"/>
          <p:nvPr/>
        </p:nvSpPr>
        <p:spPr>
          <a:xfrm>
            <a:off x="748615" y="2368518"/>
            <a:ext cx="272244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Deve-se escolher a pasta (como no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Greendocs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), o número da OS e o tipo do item que está sendo processado.</a:t>
            </a:r>
          </a:p>
        </p:txBody>
      </p: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3872DB4C-0885-4778-9F77-BDD2530D1990}"/>
              </a:ext>
            </a:extLst>
          </p:cNvPr>
          <p:cNvCxnSpPr>
            <a:cxnSpLocks/>
            <a:stCxn id="15" idx="2"/>
            <a:endCxn id="14" idx="1"/>
          </p:cNvCxnSpPr>
          <p:nvPr/>
        </p:nvCxnSpPr>
        <p:spPr>
          <a:xfrm rot="16200000" flipH="1">
            <a:off x="2985902" y="2138786"/>
            <a:ext cx="276647" cy="202877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94D7277-63FF-49C8-BDD8-CC47317FBC03}"/>
              </a:ext>
            </a:extLst>
          </p:cNvPr>
          <p:cNvSpPr txBox="1"/>
          <p:nvPr/>
        </p:nvSpPr>
        <p:spPr>
          <a:xfrm>
            <a:off x="8383629" y="3339701"/>
            <a:ext cx="369651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Faz upload das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LDs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de documentos com revisão menor ou igual a do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greendocs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, caso desejado pela LD_REV_MENOR_+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num_gr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31A2512-C89C-46F6-8E46-E6BCAA710ADF}"/>
              </a:ext>
            </a:extLst>
          </p:cNvPr>
          <p:cNvSpPr txBox="1"/>
          <p:nvPr/>
        </p:nvSpPr>
        <p:spPr>
          <a:xfrm>
            <a:off x="323391" y="4188707"/>
            <a:ext cx="3031264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Barra de Progresso: Apresenta um status por GR processada,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: Casa hajam 5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com uma quantidade de documentos cada, ela irá rodar 5 vezes, apresentando os status de cada GR, uma por vez.</a:t>
            </a:r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796CF4F3-A548-43B1-B5E4-420239C42048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3354655" y="4696539"/>
            <a:ext cx="7601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FF9FA8F-8B89-49BB-BFF1-EC5F68209045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7865620" y="3339701"/>
            <a:ext cx="518009" cy="323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9900FFA-2B7C-499D-806A-458019A84681}"/>
              </a:ext>
            </a:extLst>
          </p:cNvPr>
          <p:cNvSpPr txBox="1"/>
          <p:nvPr/>
        </p:nvSpPr>
        <p:spPr>
          <a:xfrm>
            <a:off x="8837345" y="4704458"/>
            <a:ext cx="2958267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Tal botão permite o upload dos arquivos de LD que apresentem revisão comentada no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greendocs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, linhas de documentos não desejados para atualização devem ser deletadas, para que apenas as linhas restantes no documento selecionado sejam inseridas.</a:t>
            </a:r>
            <a:endParaRPr lang="pt-BR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C3A0036D-12A3-4F39-B2F8-A4A9F33CD9CE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>
            <a:off x="7222003" y="4278094"/>
            <a:ext cx="1615343" cy="1118863"/>
          </a:xfrm>
          <a:prstGeom prst="bentConnector3">
            <a:avLst>
              <a:gd name="adj1" fmla="val 9985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249C01B-B930-4653-87A0-5F149284F672}"/>
              </a:ext>
            </a:extLst>
          </p:cNvPr>
          <p:cNvSpPr txBox="1"/>
          <p:nvPr/>
        </p:nvSpPr>
        <p:spPr>
          <a:xfrm>
            <a:off x="3016723" y="5712202"/>
            <a:ext cx="439690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Esses dados estão cadastrados e podem ser manipulados em uma planilha do Excel (a1_list_doc), na pasta: P:\APL\SEA</a:t>
            </a:r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D92E12D3-12DD-4B6D-A06F-B0298DA99232}"/>
              </a:ext>
            </a:extLst>
          </p:cNvPr>
          <p:cNvCxnSpPr>
            <a:endCxn id="28" idx="0"/>
          </p:cNvCxnSpPr>
          <p:nvPr/>
        </p:nvCxnSpPr>
        <p:spPr>
          <a:xfrm>
            <a:off x="5215176" y="4214473"/>
            <a:ext cx="0" cy="14977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9A8579F-CFF9-4882-AF92-DC8B6955A1C3}"/>
              </a:ext>
            </a:extLst>
          </p:cNvPr>
          <p:cNvSpPr txBox="1"/>
          <p:nvPr/>
        </p:nvSpPr>
        <p:spPr>
          <a:xfrm>
            <a:off x="499469" y="488157"/>
            <a:ext cx="363914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b="1" dirty="0">
                <a:solidFill>
                  <a:srgbClr val="00B050"/>
                </a:solidFill>
              </a:rPr>
              <a:t>Usuário e senha para autenticação no </a:t>
            </a:r>
            <a:r>
              <a:rPr lang="pt-BR" sz="1200" b="1" dirty="0" err="1">
                <a:solidFill>
                  <a:srgbClr val="00B050"/>
                </a:solidFill>
              </a:rPr>
              <a:t>Greendocs</a:t>
            </a:r>
            <a:r>
              <a:rPr lang="pt-BR" sz="1200" b="1" dirty="0">
                <a:solidFill>
                  <a:srgbClr val="00B050"/>
                </a:solidFill>
              </a:rPr>
              <a:t>:</a:t>
            </a:r>
          </a:p>
          <a:p>
            <a:pPr algn="just"/>
            <a:r>
              <a:rPr lang="pt-BR" sz="1200" b="1" dirty="0">
                <a:solidFill>
                  <a:srgbClr val="00B050"/>
                </a:solidFill>
              </a:rPr>
              <a:t>P:/PRJ/GI/6_GREENDOCS/INSTRUÇÕES/greendocs.txt</a:t>
            </a:r>
          </a:p>
          <a:p>
            <a:pPr algn="just"/>
            <a:r>
              <a:rPr lang="pt-BR" sz="1200" b="1" dirty="0">
                <a:solidFill>
                  <a:srgbClr val="00B050"/>
                </a:solidFill>
              </a:rPr>
              <a:t>P:/APL/SEA/A1Ferramentas/greendocs.txt</a:t>
            </a:r>
          </a:p>
        </p:txBody>
      </p:sp>
    </p:spTree>
    <p:extLst>
      <p:ext uri="{BB962C8B-B14F-4D97-AF65-F5344CB8AC3E}">
        <p14:creationId xmlns:p14="http://schemas.microsoft.com/office/powerpoint/2010/main" val="3065505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BFB496D-C54E-4E0D-AC87-1BACB6B99A51}"/>
              </a:ext>
            </a:extLst>
          </p:cNvPr>
          <p:cNvSpPr txBox="1"/>
          <p:nvPr/>
        </p:nvSpPr>
        <p:spPr>
          <a:xfrm>
            <a:off x="8341707" y="2021249"/>
            <a:ext cx="3369324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Uma rotina faz com que todos os documentos da </a:t>
            </a: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pendência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Greendocs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 são processados a cada 20 minutos e dispara um relatório por e-mail com todos os documentos verificados.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C638EBE-F9CC-418C-8A22-0AC00D19B8D5}"/>
              </a:ext>
            </a:extLst>
          </p:cNvPr>
          <p:cNvSpPr txBox="1"/>
          <p:nvPr/>
        </p:nvSpPr>
        <p:spPr>
          <a:xfrm>
            <a:off x="916394" y="3963799"/>
            <a:ext cx="272244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Selecione a os dos arquivos que serão processados pelo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RoboDoc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6D88E95-DB2B-4D50-807C-FDD8C53EE722}"/>
              </a:ext>
            </a:extLst>
          </p:cNvPr>
          <p:cNvSpPr txBox="1"/>
          <p:nvPr/>
        </p:nvSpPr>
        <p:spPr>
          <a:xfrm>
            <a:off x="8797254" y="4312195"/>
            <a:ext cx="200776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Botão para verificar os documentos selecionados</a:t>
            </a:r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65454C0-62FD-4F4F-9CC4-B6DEC5453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975" y="1719262"/>
            <a:ext cx="3448050" cy="3419475"/>
          </a:xfrm>
          <a:prstGeom prst="rect">
            <a:avLst/>
          </a:prstGeom>
        </p:spPr>
      </p:pic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6CB6A81-8567-460E-9E66-5390D756FB4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638843" y="4194632"/>
            <a:ext cx="9679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605BA920-17BC-41D5-88E9-A0A266F52042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7508147" y="4543028"/>
            <a:ext cx="128910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AF1154-C3AA-4E5B-8780-EF79A78937C8}"/>
              </a:ext>
            </a:extLst>
          </p:cNvPr>
          <p:cNvSpPr txBox="1"/>
          <p:nvPr/>
        </p:nvSpPr>
        <p:spPr>
          <a:xfrm>
            <a:off x="933173" y="802538"/>
            <a:ext cx="272244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Indica o horário da próxima verificação do A1ROBODOC</a:t>
            </a:r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B13889D4-5E7C-46C2-9E9E-05D0066AA1F6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2560110" y="998491"/>
            <a:ext cx="1806168" cy="233759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E42330F-D35D-440A-92B1-3D10B08F0819}"/>
              </a:ext>
            </a:extLst>
          </p:cNvPr>
          <p:cNvSpPr txBox="1"/>
          <p:nvPr/>
        </p:nvSpPr>
        <p:spPr>
          <a:xfrm>
            <a:off x="1912690" y="4874005"/>
            <a:ext cx="175132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Apenas para testes em um ambiente distinto.</a:t>
            </a:r>
            <a:endParaRPr lang="pt-B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068003BD-42EA-48D9-AA70-F3EC5B3DD86C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664011" y="4559808"/>
            <a:ext cx="976368" cy="5450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261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ABAF8E30-5D7F-40A5-984E-D5C5728F0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40084"/>
            <a:ext cx="3847619" cy="556190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CEBC780-0DBA-4A9F-9708-AC18EFEC4978}"/>
              </a:ext>
            </a:extLst>
          </p:cNvPr>
          <p:cNvSpPr txBox="1"/>
          <p:nvPr/>
        </p:nvSpPr>
        <p:spPr>
          <a:xfrm>
            <a:off x="699791" y="922365"/>
            <a:ext cx="517000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o explorador de arquivos no modo seleção de arquivo, </a:t>
            </a:r>
          </a:p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um template padrão será utilizado caso um arquivo não seja selecionado.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31686C7-5E7B-4AE3-ADC7-A4630E3C42FD}"/>
              </a:ext>
            </a:extLst>
          </p:cNvPr>
          <p:cNvSpPr txBox="1"/>
          <p:nvPr/>
        </p:nvSpPr>
        <p:spPr>
          <a:xfrm>
            <a:off x="10062008" y="2207162"/>
            <a:ext cx="183095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Opções para eletroduto.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17EE6DD-F242-4A2E-AA4D-4D1108831E80}"/>
              </a:ext>
            </a:extLst>
          </p:cNvPr>
          <p:cNvSpPr txBox="1"/>
          <p:nvPr/>
        </p:nvSpPr>
        <p:spPr>
          <a:xfrm>
            <a:off x="10062008" y="2921265"/>
            <a:ext cx="181331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Opções para condulete.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C47E6AF-34A9-4D45-ACF8-13D322D150FC}"/>
              </a:ext>
            </a:extLst>
          </p:cNvPr>
          <p:cNvSpPr txBox="1"/>
          <p:nvPr/>
        </p:nvSpPr>
        <p:spPr>
          <a:xfrm>
            <a:off x="10062008" y="3733032"/>
            <a:ext cx="195758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Opções para abraçadeira.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FC07D37-7F6D-45BD-9E28-9C8D0A9963FB}"/>
              </a:ext>
            </a:extLst>
          </p:cNvPr>
          <p:cNvSpPr txBox="1"/>
          <p:nvPr/>
        </p:nvSpPr>
        <p:spPr>
          <a:xfrm>
            <a:off x="10062008" y="4366809"/>
            <a:ext cx="1627369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Opções para Perfil L.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E1E1044-72D5-47B2-9CCB-447B9BDFB2FF}"/>
              </a:ext>
            </a:extLst>
          </p:cNvPr>
          <p:cNvSpPr txBox="1"/>
          <p:nvPr/>
        </p:nvSpPr>
        <p:spPr>
          <a:xfrm>
            <a:off x="10062008" y="4853907"/>
            <a:ext cx="143020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Opções para luva.</a:t>
            </a:r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D363ADF-C75E-4E33-B0FF-165EF06DBC52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9943619" y="2345661"/>
            <a:ext cx="1183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050E563-241C-4453-BC25-88B29C02D8FB}"/>
              </a:ext>
            </a:extLst>
          </p:cNvPr>
          <p:cNvCxnSpPr>
            <a:cxnSpLocks/>
          </p:cNvCxnSpPr>
          <p:nvPr/>
        </p:nvCxnSpPr>
        <p:spPr>
          <a:xfrm flipH="1" flipV="1">
            <a:off x="9943619" y="3059764"/>
            <a:ext cx="1183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673D1A7C-D3C8-4542-9676-443B96440849}"/>
              </a:ext>
            </a:extLst>
          </p:cNvPr>
          <p:cNvCxnSpPr>
            <a:cxnSpLocks/>
          </p:cNvCxnSpPr>
          <p:nvPr/>
        </p:nvCxnSpPr>
        <p:spPr>
          <a:xfrm flipH="1" flipV="1">
            <a:off x="9943619" y="3871532"/>
            <a:ext cx="1183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9BA22E28-747E-42FF-8EEF-46BD7C756AB8}"/>
              </a:ext>
            </a:extLst>
          </p:cNvPr>
          <p:cNvCxnSpPr>
            <a:cxnSpLocks/>
          </p:cNvCxnSpPr>
          <p:nvPr/>
        </p:nvCxnSpPr>
        <p:spPr>
          <a:xfrm flipH="1" flipV="1">
            <a:off x="9943619" y="4524455"/>
            <a:ext cx="1183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87F0F712-BF37-4923-BB36-375E0759A97D}"/>
              </a:ext>
            </a:extLst>
          </p:cNvPr>
          <p:cNvCxnSpPr>
            <a:cxnSpLocks/>
          </p:cNvCxnSpPr>
          <p:nvPr/>
        </p:nvCxnSpPr>
        <p:spPr>
          <a:xfrm flipH="1" flipV="1">
            <a:off x="9932359" y="4992406"/>
            <a:ext cx="1183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040CF595-29C0-449A-8C84-A31C9E96E948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4537654" y="131169"/>
            <a:ext cx="305487" cy="281120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BB68735-769E-45C9-95D3-4F3B998BE120}"/>
              </a:ext>
            </a:extLst>
          </p:cNvPr>
          <p:cNvSpPr txBox="1"/>
          <p:nvPr/>
        </p:nvSpPr>
        <p:spPr>
          <a:xfrm>
            <a:off x="10062008" y="1604373"/>
            <a:ext cx="1891865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Gera a lista de materiais.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D7ADF6D-9972-4850-9076-2CC5B5DAE240}"/>
              </a:ext>
            </a:extLst>
          </p:cNvPr>
          <p:cNvSpPr txBox="1"/>
          <p:nvPr/>
        </p:nvSpPr>
        <p:spPr>
          <a:xfrm>
            <a:off x="10062008" y="5793196"/>
            <a:ext cx="1540806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Opções de códigos.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7DB9C8E6-8EC8-4722-B4E7-AB5D279772B8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9943620" y="5931696"/>
            <a:ext cx="118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EB616D99-25B1-407F-B903-8B7F5CD19C70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9943620" y="1742873"/>
            <a:ext cx="118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EEAD90F-4122-4895-972D-03320413BE0F}"/>
              </a:ext>
            </a:extLst>
          </p:cNvPr>
          <p:cNvSpPr txBox="1"/>
          <p:nvPr/>
        </p:nvSpPr>
        <p:spPr>
          <a:xfrm>
            <a:off x="1159853" y="2112904"/>
            <a:ext cx="424988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Abre o explorador de arquivos no modo seleção de arquivo.</a:t>
            </a:r>
          </a:p>
        </p:txBody>
      </p: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B350B92B-C164-42F0-898D-492129448EA7}"/>
              </a:ext>
            </a:extLst>
          </p:cNvPr>
          <p:cNvCxnSpPr>
            <a:cxnSpLocks/>
            <a:stCxn id="38" idx="0"/>
          </p:cNvCxnSpPr>
          <p:nvPr/>
        </p:nvCxnSpPr>
        <p:spPr>
          <a:xfrm rot="5400000" flipH="1" flipV="1">
            <a:off x="4565845" y="582749"/>
            <a:ext cx="249105" cy="28112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9E7D736-CA90-4A8F-83F8-FC604DFDE842}"/>
              </a:ext>
            </a:extLst>
          </p:cNvPr>
          <p:cNvSpPr txBox="1"/>
          <p:nvPr/>
        </p:nvSpPr>
        <p:spPr>
          <a:xfrm>
            <a:off x="1428206" y="3186137"/>
            <a:ext cx="353128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Insere o valor digitado no condulete selecionado.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D5B2E6FB-921B-42C1-915C-6D07D9325AB8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4959493" y="3324637"/>
            <a:ext cx="1136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F312D08-C18C-409A-BA40-484367835493}"/>
              </a:ext>
            </a:extLst>
          </p:cNvPr>
          <p:cNvSpPr txBox="1"/>
          <p:nvPr/>
        </p:nvSpPr>
        <p:spPr>
          <a:xfrm>
            <a:off x="1428206" y="5146865"/>
            <a:ext cx="353128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Uma lista com as próximas letras irá aparecer ao preencher as opções para um material e clicar em seu código.</a:t>
            </a:r>
          </a:p>
        </p:txBody>
      </p: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999A4FC6-24B7-4652-B5BA-5FCF5212B5B5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4959493" y="5470031"/>
            <a:ext cx="1136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B93B231B-BD4C-45F9-992C-3D494EC23A67}"/>
              </a:ext>
            </a:extLst>
          </p:cNvPr>
          <p:cNvSpPr txBox="1"/>
          <p:nvPr/>
        </p:nvSpPr>
        <p:spPr>
          <a:xfrm>
            <a:off x="1428206" y="5931695"/>
            <a:ext cx="353128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Para completar o código é necessário clicar em uma opção na lista de códigos e depois clicar no material para confirmar.</a:t>
            </a:r>
          </a:p>
        </p:txBody>
      </p: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DE4B4B0F-DCC6-43D0-B211-332757069F6B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4959493" y="6240327"/>
            <a:ext cx="1136506" cy="14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BC97CD44-CB5D-4999-9775-A39994F79CAF}"/>
              </a:ext>
            </a:extLst>
          </p:cNvPr>
          <p:cNvSpPr txBox="1"/>
          <p:nvPr/>
        </p:nvSpPr>
        <p:spPr>
          <a:xfrm>
            <a:off x="2588513" y="471083"/>
            <a:ext cx="6562566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just"/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Será necessário um arquivo de relatório de cabos do A1Cabos para gerar a lista de materiais.</a:t>
            </a:r>
          </a:p>
        </p:txBody>
      </p:sp>
    </p:spTree>
    <p:extLst>
      <p:ext uri="{BB962C8B-B14F-4D97-AF65-F5344CB8AC3E}">
        <p14:creationId xmlns:p14="http://schemas.microsoft.com/office/powerpoint/2010/main" val="3804572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Agrupar 14">
            <a:extLst>
              <a:ext uri="{FF2B5EF4-FFF2-40B4-BE49-F238E27FC236}">
                <a16:creationId xmlns:a16="http://schemas.microsoft.com/office/drawing/2014/main" id="{0874D3DF-DDFD-4268-901F-2507AB9A4C9D}"/>
              </a:ext>
            </a:extLst>
          </p:cNvPr>
          <p:cNvGrpSpPr/>
          <p:nvPr/>
        </p:nvGrpSpPr>
        <p:grpSpPr>
          <a:xfrm>
            <a:off x="5052000" y="126647"/>
            <a:ext cx="2087229" cy="3017183"/>
            <a:chOff x="259597" y="125533"/>
            <a:chExt cx="2087229" cy="3017183"/>
          </a:xfrm>
        </p:grpSpPr>
        <p:pic>
          <p:nvPicPr>
            <p:cNvPr id="5" name="Imagem 4" descr="Uma imagem contendo captura de tela&#10;&#10;Descrição gerada automaticamente">
              <a:extLst>
                <a:ext uri="{FF2B5EF4-FFF2-40B4-BE49-F238E27FC236}">
                  <a16:creationId xmlns:a16="http://schemas.microsoft.com/office/drawing/2014/main" id="{3B4D4145-84F5-450E-811F-1D4B8770A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597" y="125533"/>
              <a:ext cx="2087229" cy="3017183"/>
            </a:xfrm>
            <a:prstGeom prst="rect">
              <a:avLst/>
            </a:prstGeom>
          </p:spPr>
        </p:pic>
        <p:sp>
          <p:nvSpPr>
            <p:cNvPr id="14" name="Seta: para a Direita 13">
              <a:extLst>
                <a:ext uri="{FF2B5EF4-FFF2-40B4-BE49-F238E27FC236}">
                  <a16:creationId xmlns:a16="http://schemas.microsoft.com/office/drawing/2014/main" id="{44C48913-567E-4A26-A996-ACC22D7EFB7E}"/>
                </a:ext>
              </a:extLst>
            </p:cNvPr>
            <p:cNvSpPr/>
            <p:nvPr/>
          </p:nvSpPr>
          <p:spPr>
            <a:xfrm rot="2700000" flipH="1" flipV="1">
              <a:off x="1388707" y="771077"/>
              <a:ext cx="170162" cy="134388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54EE7AA-47E1-4781-8576-A3C0E2E13E88}"/>
              </a:ext>
            </a:extLst>
          </p:cNvPr>
          <p:cNvGrpSpPr/>
          <p:nvPr/>
        </p:nvGrpSpPr>
        <p:grpSpPr>
          <a:xfrm>
            <a:off x="8595379" y="125533"/>
            <a:ext cx="2088000" cy="3018297"/>
            <a:chOff x="3333488" y="124419"/>
            <a:chExt cx="2088000" cy="3018297"/>
          </a:xfrm>
        </p:grpSpPr>
        <p:pic>
          <p:nvPicPr>
            <p:cNvPr id="7" name="Imagem 6" descr="Uma imagem contendo captura de tela&#10;&#10;Descrição gerada automaticamente">
              <a:extLst>
                <a:ext uri="{FF2B5EF4-FFF2-40B4-BE49-F238E27FC236}">
                  <a16:creationId xmlns:a16="http://schemas.microsoft.com/office/drawing/2014/main" id="{9B199FD9-7928-426E-888B-506B5370B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3488" y="124419"/>
              <a:ext cx="2088000" cy="3018297"/>
            </a:xfrm>
            <a:prstGeom prst="rect">
              <a:avLst/>
            </a:prstGeom>
          </p:spPr>
        </p:pic>
        <p:sp>
          <p:nvSpPr>
            <p:cNvPr id="27" name="Seta: para a Direita 26">
              <a:extLst>
                <a:ext uri="{FF2B5EF4-FFF2-40B4-BE49-F238E27FC236}">
                  <a16:creationId xmlns:a16="http://schemas.microsoft.com/office/drawing/2014/main" id="{E41209BE-257C-4817-9B7C-728FE89FD059}"/>
                </a:ext>
              </a:extLst>
            </p:cNvPr>
            <p:cNvSpPr/>
            <p:nvPr/>
          </p:nvSpPr>
          <p:spPr>
            <a:xfrm rot="2700000" flipH="1" flipV="1">
              <a:off x="3896776" y="878752"/>
              <a:ext cx="170162" cy="134388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6F25155-A4E3-4ACC-8C78-34F486BA9085}"/>
              </a:ext>
            </a:extLst>
          </p:cNvPr>
          <p:cNvGrpSpPr/>
          <p:nvPr/>
        </p:nvGrpSpPr>
        <p:grpSpPr>
          <a:xfrm>
            <a:off x="8595379" y="3429000"/>
            <a:ext cx="2088000" cy="3018297"/>
            <a:chOff x="9267462" y="3582075"/>
            <a:chExt cx="2088000" cy="3018297"/>
          </a:xfrm>
        </p:grpSpPr>
        <p:pic>
          <p:nvPicPr>
            <p:cNvPr id="13" name="Imagem 12" descr="Uma imagem contendo captura de tela&#10;&#10;Descrição gerada automaticamente">
              <a:extLst>
                <a:ext uri="{FF2B5EF4-FFF2-40B4-BE49-F238E27FC236}">
                  <a16:creationId xmlns:a16="http://schemas.microsoft.com/office/drawing/2014/main" id="{1CBA2656-7F59-4E27-A4D5-6AAACBE7C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7462" y="3582075"/>
              <a:ext cx="2088000" cy="3018297"/>
            </a:xfrm>
            <a:prstGeom prst="rect">
              <a:avLst/>
            </a:prstGeom>
          </p:spPr>
        </p:pic>
        <p:sp>
          <p:nvSpPr>
            <p:cNvPr id="36" name="Seta: para a Direita 35">
              <a:extLst>
                <a:ext uri="{FF2B5EF4-FFF2-40B4-BE49-F238E27FC236}">
                  <a16:creationId xmlns:a16="http://schemas.microsoft.com/office/drawing/2014/main" id="{75BD8A19-4958-45C0-893A-B93973946F62}"/>
                </a:ext>
              </a:extLst>
            </p:cNvPr>
            <p:cNvSpPr/>
            <p:nvPr/>
          </p:nvSpPr>
          <p:spPr>
            <a:xfrm rot="2700000" flipH="1" flipV="1">
              <a:off x="9966649" y="4196716"/>
              <a:ext cx="170162" cy="134388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5D2C369E-CB1D-4969-907C-75E110067859}"/>
              </a:ext>
            </a:extLst>
          </p:cNvPr>
          <p:cNvGrpSpPr/>
          <p:nvPr/>
        </p:nvGrpSpPr>
        <p:grpSpPr>
          <a:xfrm>
            <a:off x="5052000" y="3429000"/>
            <a:ext cx="2088000" cy="3013129"/>
            <a:chOff x="1212465" y="3252974"/>
            <a:chExt cx="2088000" cy="3013129"/>
          </a:xfrm>
        </p:grpSpPr>
        <p:pic>
          <p:nvPicPr>
            <p:cNvPr id="11" name="Imagem 10" descr="Uma imagem contendo captura de tela&#10;&#10;Descrição gerada automaticamente">
              <a:extLst>
                <a:ext uri="{FF2B5EF4-FFF2-40B4-BE49-F238E27FC236}">
                  <a16:creationId xmlns:a16="http://schemas.microsoft.com/office/drawing/2014/main" id="{DEEE0FF6-6363-439B-9A3C-D9DC9F237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2465" y="3252974"/>
              <a:ext cx="2088000" cy="3013129"/>
            </a:xfrm>
            <a:prstGeom prst="rect">
              <a:avLst/>
            </a:prstGeom>
          </p:spPr>
        </p:pic>
        <p:sp>
          <p:nvSpPr>
            <p:cNvPr id="37" name="Seta: para a Direita 36">
              <a:extLst>
                <a:ext uri="{FF2B5EF4-FFF2-40B4-BE49-F238E27FC236}">
                  <a16:creationId xmlns:a16="http://schemas.microsoft.com/office/drawing/2014/main" id="{8E4B43D2-B0E5-42F9-9825-56A77C7A2067}"/>
                </a:ext>
              </a:extLst>
            </p:cNvPr>
            <p:cNvSpPr/>
            <p:nvPr/>
          </p:nvSpPr>
          <p:spPr>
            <a:xfrm rot="2700000" flipH="1" flipV="1">
              <a:off x="1315865" y="5741307"/>
              <a:ext cx="170162" cy="134388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8088B2E3-122D-4BAE-8361-FD6EFC55FA4C}"/>
              </a:ext>
            </a:extLst>
          </p:cNvPr>
          <p:cNvGrpSpPr/>
          <p:nvPr/>
        </p:nvGrpSpPr>
        <p:grpSpPr>
          <a:xfrm>
            <a:off x="1507850" y="3423832"/>
            <a:ext cx="2088000" cy="3018297"/>
            <a:chOff x="8596150" y="124418"/>
            <a:chExt cx="2088000" cy="3018297"/>
          </a:xfrm>
        </p:grpSpPr>
        <p:pic>
          <p:nvPicPr>
            <p:cNvPr id="9" name="Imagem 8" descr="Uma imagem contendo captura de tela&#10;&#10;Descrição gerada automaticamente">
              <a:extLst>
                <a:ext uri="{FF2B5EF4-FFF2-40B4-BE49-F238E27FC236}">
                  <a16:creationId xmlns:a16="http://schemas.microsoft.com/office/drawing/2014/main" id="{08BCD6F4-FF73-4741-9723-581C83CA7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6150" y="124418"/>
              <a:ext cx="2088000" cy="3018297"/>
            </a:xfrm>
            <a:prstGeom prst="rect">
              <a:avLst/>
            </a:prstGeom>
          </p:spPr>
        </p:pic>
        <p:sp>
          <p:nvSpPr>
            <p:cNvPr id="38" name="Seta: para a Direita 37">
              <a:extLst>
                <a:ext uri="{FF2B5EF4-FFF2-40B4-BE49-F238E27FC236}">
                  <a16:creationId xmlns:a16="http://schemas.microsoft.com/office/drawing/2014/main" id="{77216F87-3226-4B6B-87A4-516B27DF6CC5}"/>
                </a:ext>
              </a:extLst>
            </p:cNvPr>
            <p:cNvSpPr/>
            <p:nvPr/>
          </p:nvSpPr>
          <p:spPr>
            <a:xfrm rot="2700000" flipH="1" flipV="1">
              <a:off x="9277353" y="729782"/>
              <a:ext cx="170162" cy="134388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5EAB6B5-2C90-45AD-929F-252F56386C92}"/>
              </a:ext>
            </a:extLst>
          </p:cNvPr>
          <p:cNvSpPr txBox="1"/>
          <p:nvPr/>
        </p:nvSpPr>
        <p:spPr>
          <a:xfrm>
            <a:off x="910458" y="1496181"/>
            <a:ext cx="3282783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Sequência para completar a letra do material.</a:t>
            </a:r>
          </a:p>
        </p:txBody>
      </p:sp>
    </p:spTree>
    <p:extLst>
      <p:ext uri="{BB962C8B-B14F-4D97-AF65-F5344CB8AC3E}">
        <p14:creationId xmlns:p14="http://schemas.microsoft.com/office/powerpoint/2010/main" val="1481602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80192F4F-7CF1-4E76-AA3F-A753E52B8C66}"/>
              </a:ext>
            </a:extLst>
          </p:cNvPr>
          <p:cNvGrpSpPr/>
          <p:nvPr/>
        </p:nvGrpSpPr>
        <p:grpSpPr>
          <a:xfrm>
            <a:off x="650435" y="1123527"/>
            <a:ext cx="3185512" cy="4604800"/>
            <a:chOff x="650435" y="1123527"/>
            <a:chExt cx="3185512" cy="4604800"/>
          </a:xfrm>
        </p:grpSpPr>
        <p:pic>
          <p:nvPicPr>
            <p:cNvPr id="5" name="Imagem 4" descr="Uma imagem contendo captura de tela&#10;&#10;Descrição gerada automaticamente">
              <a:extLst>
                <a:ext uri="{FF2B5EF4-FFF2-40B4-BE49-F238E27FC236}">
                  <a16:creationId xmlns:a16="http://schemas.microsoft.com/office/drawing/2014/main" id="{52881161-FA1B-4D60-950A-80DDA8E35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435" y="1123527"/>
              <a:ext cx="3185512" cy="4604800"/>
            </a:xfrm>
            <a:prstGeom prst="rect">
              <a:avLst/>
            </a:prstGeom>
          </p:spPr>
        </p:pic>
        <p:sp>
          <p:nvSpPr>
            <p:cNvPr id="12" name="Seta: para a Direita 11">
              <a:extLst>
                <a:ext uri="{FF2B5EF4-FFF2-40B4-BE49-F238E27FC236}">
                  <a16:creationId xmlns:a16="http://schemas.microsoft.com/office/drawing/2014/main" id="{288315BF-95A8-446F-B087-3CCA0CBDAC20}"/>
                </a:ext>
              </a:extLst>
            </p:cNvPr>
            <p:cNvSpPr/>
            <p:nvPr/>
          </p:nvSpPr>
          <p:spPr>
            <a:xfrm rot="2700000" flipH="1" flipV="1">
              <a:off x="1396574" y="2958042"/>
              <a:ext cx="170162" cy="134388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AC74733-9143-47A7-B446-EE039D6CDABB}"/>
              </a:ext>
            </a:extLst>
          </p:cNvPr>
          <p:cNvGrpSpPr/>
          <p:nvPr/>
        </p:nvGrpSpPr>
        <p:grpSpPr>
          <a:xfrm>
            <a:off x="4503244" y="1123527"/>
            <a:ext cx="3185512" cy="4604800"/>
            <a:chOff x="4503244" y="1123527"/>
            <a:chExt cx="3185512" cy="4604800"/>
          </a:xfrm>
        </p:grpSpPr>
        <p:pic>
          <p:nvPicPr>
            <p:cNvPr id="7" name="Imagem 6" descr="Uma imagem contendo captura de tela&#10;&#10;Descrição gerada automaticamente">
              <a:extLst>
                <a:ext uri="{FF2B5EF4-FFF2-40B4-BE49-F238E27FC236}">
                  <a16:creationId xmlns:a16="http://schemas.microsoft.com/office/drawing/2014/main" id="{86C13049-379C-4011-8393-51FC7A853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3244" y="1123527"/>
              <a:ext cx="3185512" cy="4604800"/>
            </a:xfrm>
            <a:prstGeom prst="rect">
              <a:avLst/>
            </a:prstGeom>
          </p:spPr>
        </p:pic>
        <p:sp>
          <p:nvSpPr>
            <p:cNvPr id="13" name="Seta: para a Direita 12">
              <a:extLst>
                <a:ext uri="{FF2B5EF4-FFF2-40B4-BE49-F238E27FC236}">
                  <a16:creationId xmlns:a16="http://schemas.microsoft.com/office/drawing/2014/main" id="{A4C087ED-54CD-4101-A9BC-CCAC5BA66FF7}"/>
                </a:ext>
              </a:extLst>
            </p:cNvPr>
            <p:cNvSpPr/>
            <p:nvPr/>
          </p:nvSpPr>
          <p:spPr>
            <a:xfrm rot="2700000" flipH="1" flipV="1">
              <a:off x="4582086" y="2742693"/>
              <a:ext cx="170162" cy="134388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4E88033F-4659-460B-9F29-97C9136FF7BA}"/>
              </a:ext>
            </a:extLst>
          </p:cNvPr>
          <p:cNvGrpSpPr/>
          <p:nvPr/>
        </p:nvGrpSpPr>
        <p:grpSpPr>
          <a:xfrm>
            <a:off x="8303085" y="1123527"/>
            <a:ext cx="3185512" cy="4604800"/>
            <a:chOff x="8303085" y="1123527"/>
            <a:chExt cx="3185512" cy="4604800"/>
          </a:xfrm>
        </p:grpSpPr>
        <p:pic>
          <p:nvPicPr>
            <p:cNvPr id="9" name="Imagem 8" descr="Uma imagem contendo captura de tela&#10;&#10;Descrição gerada automaticamente">
              <a:extLst>
                <a:ext uri="{FF2B5EF4-FFF2-40B4-BE49-F238E27FC236}">
                  <a16:creationId xmlns:a16="http://schemas.microsoft.com/office/drawing/2014/main" id="{E1E52CEE-334F-45C6-B930-8F29C9E97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3085" y="1123527"/>
              <a:ext cx="3185512" cy="4604800"/>
            </a:xfrm>
            <a:prstGeom prst="rect">
              <a:avLst/>
            </a:prstGeom>
          </p:spPr>
        </p:pic>
        <p:sp>
          <p:nvSpPr>
            <p:cNvPr id="15" name="Seta: para a Direita 14">
              <a:extLst>
                <a:ext uri="{FF2B5EF4-FFF2-40B4-BE49-F238E27FC236}">
                  <a16:creationId xmlns:a16="http://schemas.microsoft.com/office/drawing/2014/main" id="{B59D58FD-1FAF-492D-9BAA-7FF630BA8912}"/>
                </a:ext>
              </a:extLst>
            </p:cNvPr>
            <p:cNvSpPr/>
            <p:nvPr/>
          </p:nvSpPr>
          <p:spPr>
            <a:xfrm rot="2700000" flipH="1" flipV="1">
              <a:off x="8632844" y="2958043"/>
              <a:ext cx="170162" cy="134388"/>
            </a:xfrm>
            <a:prstGeom prst="rightArrow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ACB69C3-7AD9-41A0-AD29-AFE7C1E38F8A}"/>
              </a:ext>
            </a:extLst>
          </p:cNvPr>
          <p:cNvSpPr txBox="1"/>
          <p:nvPr/>
        </p:nvSpPr>
        <p:spPr>
          <a:xfrm>
            <a:off x="4852938" y="529530"/>
            <a:ext cx="2486123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Sequência para inserir condulete.</a:t>
            </a:r>
          </a:p>
        </p:txBody>
      </p:sp>
    </p:spTree>
    <p:extLst>
      <p:ext uri="{BB962C8B-B14F-4D97-AF65-F5344CB8AC3E}">
        <p14:creationId xmlns:p14="http://schemas.microsoft.com/office/powerpoint/2010/main" val="9776293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1327</Words>
  <Application>Microsoft Office PowerPoint</Application>
  <PresentationFormat>Widescreen</PresentationFormat>
  <Paragraphs>115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Tahoma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Gustavo Schitz da Rocha</dc:creator>
  <cp:lastModifiedBy>Marcelo Feliciano Filho</cp:lastModifiedBy>
  <cp:revision>137</cp:revision>
  <dcterms:created xsi:type="dcterms:W3CDTF">2019-08-28T17:25:49Z</dcterms:created>
  <dcterms:modified xsi:type="dcterms:W3CDTF">2020-09-08T18:27:28Z</dcterms:modified>
</cp:coreProperties>
</file>