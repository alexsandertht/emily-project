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3171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6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19093"/>
            <a:ext cx="9144000" cy="1104265"/>
          </a:xfrm>
        </p:spPr>
        <p:txBody>
          <a:bodyPr anchor="b"/>
          <a:lstStyle>
            <a:lvl1pPr algn="ctr">
              <a:defRPr sz="277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65943"/>
            <a:ext cx="9144000" cy="765790"/>
          </a:xfrm>
        </p:spPr>
        <p:txBody>
          <a:bodyPr/>
          <a:lstStyle>
            <a:lvl1pPr marL="0" indent="0" algn="ctr">
              <a:buNone/>
              <a:defRPr sz="1110"/>
            </a:lvl1pPr>
            <a:lvl2pPr marL="211455" indent="0" algn="ctr">
              <a:buNone/>
              <a:defRPr sz="925"/>
            </a:lvl2pPr>
            <a:lvl3pPr marL="422910" indent="0" algn="ctr">
              <a:buNone/>
              <a:defRPr sz="832"/>
            </a:lvl3pPr>
            <a:lvl4pPr marL="634365" indent="0" algn="ctr">
              <a:buNone/>
              <a:defRPr sz="740"/>
            </a:lvl4pPr>
            <a:lvl5pPr marL="845820" indent="0" algn="ctr">
              <a:buNone/>
              <a:defRPr sz="740"/>
            </a:lvl5pPr>
            <a:lvl6pPr marL="1057275" indent="0" algn="ctr">
              <a:buNone/>
              <a:defRPr sz="740"/>
            </a:lvl6pPr>
            <a:lvl7pPr marL="1268730" indent="0" algn="ctr">
              <a:buNone/>
              <a:defRPr sz="740"/>
            </a:lvl7pPr>
            <a:lvl8pPr marL="1480185" indent="0" algn="ctr">
              <a:buNone/>
              <a:defRPr sz="740"/>
            </a:lvl8pPr>
            <a:lvl9pPr marL="1691640" indent="0" algn="ctr">
              <a:buNone/>
              <a:defRPr sz="7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605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29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90754"/>
            <a:ext cx="10515600" cy="1319391"/>
          </a:xfrm>
        </p:spPr>
        <p:txBody>
          <a:bodyPr anchor="b"/>
          <a:lstStyle>
            <a:lvl1pPr>
              <a:defRPr sz="277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122627"/>
            <a:ext cx="10515600" cy="693836"/>
          </a:xfrm>
        </p:spPr>
        <p:txBody>
          <a:bodyPr/>
          <a:lstStyle>
            <a:lvl1pPr marL="0" indent="0">
              <a:buNone/>
              <a:defRPr sz="1110">
                <a:solidFill>
                  <a:schemeClr val="tx1">
                    <a:tint val="75000"/>
                  </a:schemeClr>
                </a:solidFill>
              </a:defRPr>
            </a:lvl1pPr>
            <a:lvl2pPr marL="21145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2pPr>
            <a:lvl3pPr marL="422910" indent="0">
              <a:buNone/>
              <a:defRPr sz="832">
                <a:solidFill>
                  <a:schemeClr val="tx1">
                    <a:tint val="75000"/>
                  </a:schemeClr>
                </a:solidFill>
              </a:defRPr>
            </a:lvl3pPr>
            <a:lvl4pPr marL="63436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4pPr>
            <a:lvl5pPr marL="845820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5pPr>
            <a:lvl6pPr marL="1057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6pPr>
            <a:lvl7pPr marL="1268730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7pPr>
            <a:lvl8pPr marL="148018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8pPr>
            <a:lvl9pPr marL="1691640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11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44351"/>
            <a:ext cx="5181600" cy="201249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44351"/>
            <a:ext cx="5181600" cy="201249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22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8870"/>
            <a:ext cx="10515600" cy="61307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77538"/>
            <a:ext cx="5157787" cy="381059"/>
          </a:xfrm>
        </p:spPr>
        <p:txBody>
          <a:bodyPr anchor="b"/>
          <a:lstStyle>
            <a:lvl1pPr marL="0" indent="0">
              <a:buNone/>
              <a:defRPr sz="1110" b="1"/>
            </a:lvl1pPr>
            <a:lvl2pPr marL="211455" indent="0">
              <a:buNone/>
              <a:defRPr sz="925" b="1"/>
            </a:lvl2pPr>
            <a:lvl3pPr marL="422910" indent="0">
              <a:buNone/>
              <a:defRPr sz="832" b="1"/>
            </a:lvl3pPr>
            <a:lvl4pPr marL="634365" indent="0">
              <a:buNone/>
              <a:defRPr sz="740" b="1"/>
            </a:lvl4pPr>
            <a:lvl5pPr marL="845820" indent="0">
              <a:buNone/>
              <a:defRPr sz="740" b="1"/>
            </a:lvl5pPr>
            <a:lvl6pPr marL="1057275" indent="0">
              <a:buNone/>
              <a:defRPr sz="740" b="1"/>
            </a:lvl6pPr>
            <a:lvl7pPr marL="1268730" indent="0">
              <a:buNone/>
              <a:defRPr sz="740" b="1"/>
            </a:lvl7pPr>
            <a:lvl8pPr marL="1480185" indent="0">
              <a:buNone/>
              <a:defRPr sz="740" b="1"/>
            </a:lvl8pPr>
            <a:lvl9pPr marL="1691640" indent="0">
              <a:buNone/>
              <a:defRPr sz="7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158597"/>
            <a:ext cx="5157787" cy="17041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77538"/>
            <a:ext cx="5183188" cy="381059"/>
          </a:xfrm>
        </p:spPr>
        <p:txBody>
          <a:bodyPr anchor="b"/>
          <a:lstStyle>
            <a:lvl1pPr marL="0" indent="0">
              <a:buNone/>
              <a:defRPr sz="1110" b="1"/>
            </a:lvl1pPr>
            <a:lvl2pPr marL="211455" indent="0">
              <a:buNone/>
              <a:defRPr sz="925" b="1"/>
            </a:lvl2pPr>
            <a:lvl3pPr marL="422910" indent="0">
              <a:buNone/>
              <a:defRPr sz="832" b="1"/>
            </a:lvl3pPr>
            <a:lvl4pPr marL="634365" indent="0">
              <a:buNone/>
              <a:defRPr sz="740" b="1"/>
            </a:lvl4pPr>
            <a:lvl5pPr marL="845820" indent="0">
              <a:buNone/>
              <a:defRPr sz="740" b="1"/>
            </a:lvl5pPr>
            <a:lvl6pPr marL="1057275" indent="0">
              <a:buNone/>
              <a:defRPr sz="740" b="1"/>
            </a:lvl6pPr>
            <a:lvl7pPr marL="1268730" indent="0">
              <a:buNone/>
              <a:defRPr sz="740" b="1"/>
            </a:lvl7pPr>
            <a:lvl8pPr marL="1480185" indent="0">
              <a:buNone/>
              <a:defRPr sz="740" b="1"/>
            </a:lvl8pPr>
            <a:lvl9pPr marL="1691640" indent="0">
              <a:buNone/>
              <a:defRPr sz="7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58597"/>
            <a:ext cx="5183188" cy="17041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30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72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410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11455"/>
            <a:ext cx="3932237" cy="740093"/>
          </a:xfrm>
        </p:spPr>
        <p:txBody>
          <a:bodyPr anchor="b"/>
          <a:lstStyle>
            <a:lvl1pPr>
              <a:defRPr sz="1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6684"/>
            <a:ext cx="6172200" cy="2254052"/>
          </a:xfrm>
        </p:spPr>
        <p:txBody>
          <a:bodyPr/>
          <a:lstStyle>
            <a:lvl1pPr>
              <a:defRPr sz="1480"/>
            </a:lvl1pPr>
            <a:lvl2pPr>
              <a:defRPr sz="1295"/>
            </a:lvl2pPr>
            <a:lvl3pPr>
              <a:defRPr sz="1110"/>
            </a:lvl3pPr>
            <a:lvl4pPr>
              <a:defRPr sz="925"/>
            </a:lvl4pPr>
            <a:lvl5pPr>
              <a:defRPr sz="925"/>
            </a:lvl5pPr>
            <a:lvl6pPr>
              <a:defRPr sz="925"/>
            </a:lvl6pPr>
            <a:lvl7pPr>
              <a:defRPr sz="925"/>
            </a:lvl7pPr>
            <a:lvl8pPr>
              <a:defRPr sz="925"/>
            </a:lvl8pPr>
            <a:lvl9pPr>
              <a:defRPr sz="9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51548"/>
            <a:ext cx="3932237" cy="1762859"/>
          </a:xfrm>
        </p:spPr>
        <p:txBody>
          <a:bodyPr/>
          <a:lstStyle>
            <a:lvl1pPr marL="0" indent="0">
              <a:buNone/>
              <a:defRPr sz="740"/>
            </a:lvl1pPr>
            <a:lvl2pPr marL="211455" indent="0">
              <a:buNone/>
              <a:defRPr sz="648"/>
            </a:lvl2pPr>
            <a:lvl3pPr marL="422910" indent="0">
              <a:buNone/>
              <a:defRPr sz="555"/>
            </a:lvl3pPr>
            <a:lvl4pPr marL="634365" indent="0">
              <a:buNone/>
              <a:defRPr sz="463"/>
            </a:lvl4pPr>
            <a:lvl5pPr marL="845820" indent="0">
              <a:buNone/>
              <a:defRPr sz="463"/>
            </a:lvl5pPr>
            <a:lvl6pPr marL="1057275" indent="0">
              <a:buNone/>
              <a:defRPr sz="463"/>
            </a:lvl6pPr>
            <a:lvl7pPr marL="1268730" indent="0">
              <a:buNone/>
              <a:defRPr sz="463"/>
            </a:lvl7pPr>
            <a:lvl8pPr marL="1480185" indent="0">
              <a:buNone/>
              <a:defRPr sz="463"/>
            </a:lvl8pPr>
            <a:lvl9pPr marL="1691640" indent="0">
              <a:buNone/>
              <a:defRPr sz="4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46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11455"/>
            <a:ext cx="3932237" cy="740093"/>
          </a:xfrm>
        </p:spPr>
        <p:txBody>
          <a:bodyPr anchor="b"/>
          <a:lstStyle>
            <a:lvl1pPr>
              <a:defRPr sz="1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6684"/>
            <a:ext cx="6172200" cy="2254052"/>
          </a:xfrm>
        </p:spPr>
        <p:txBody>
          <a:bodyPr anchor="t"/>
          <a:lstStyle>
            <a:lvl1pPr marL="0" indent="0">
              <a:buNone/>
              <a:defRPr sz="1480"/>
            </a:lvl1pPr>
            <a:lvl2pPr marL="211455" indent="0">
              <a:buNone/>
              <a:defRPr sz="1295"/>
            </a:lvl2pPr>
            <a:lvl3pPr marL="422910" indent="0">
              <a:buNone/>
              <a:defRPr sz="1110"/>
            </a:lvl3pPr>
            <a:lvl4pPr marL="634365" indent="0">
              <a:buNone/>
              <a:defRPr sz="925"/>
            </a:lvl4pPr>
            <a:lvl5pPr marL="845820" indent="0">
              <a:buNone/>
              <a:defRPr sz="925"/>
            </a:lvl5pPr>
            <a:lvl6pPr marL="1057275" indent="0">
              <a:buNone/>
              <a:defRPr sz="925"/>
            </a:lvl6pPr>
            <a:lvl7pPr marL="1268730" indent="0">
              <a:buNone/>
              <a:defRPr sz="925"/>
            </a:lvl7pPr>
            <a:lvl8pPr marL="1480185" indent="0">
              <a:buNone/>
              <a:defRPr sz="925"/>
            </a:lvl8pPr>
            <a:lvl9pPr marL="1691640" indent="0">
              <a:buNone/>
              <a:defRPr sz="9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51548"/>
            <a:ext cx="3932237" cy="1762859"/>
          </a:xfrm>
        </p:spPr>
        <p:txBody>
          <a:bodyPr/>
          <a:lstStyle>
            <a:lvl1pPr marL="0" indent="0">
              <a:buNone/>
              <a:defRPr sz="740"/>
            </a:lvl1pPr>
            <a:lvl2pPr marL="211455" indent="0">
              <a:buNone/>
              <a:defRPr sz="648"/>
            </a:lvl2pPr>
            <a:lvl3pPr marL="422910" indent="0">
              <a:buNone/>
              <a:defRPr sz="555"/>
            </a:lvl3pPr>
            <a:lvl4pPr marL="634365" indent="0">
              <a:buNone/>
              <a:defRPr sz="463"/>
            </a:lvl4pPr>
            <a:lvl5pPr marL="845820" indent="0">
              <a:buNone/>
              <a:defRPr sz="463"/>
            </a:lvl5pPr>
            <a:lvl6pPr marL="1057275" indent="0">
              <a:buNone/>
              <a:defRPr sz="463"/>
            </a:lvl6pPr>
            <a:lvl7pPr marL="1268730" indent="0">
              <a:buNone/>
              <a:defRPr sz="463"/>
            </a:lvl7pPr>
            <a:lvl8pPr marL="1480185" indent="0">
              <a:buNone/>
              <a:defRPr sz="463"/>
            </a:lvl8pPr>
            <a:lvl9pPr marL="1691640" indent="0">
              <a:buNone/>
              <a:defRPr sz="4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7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67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8870"/>
            <a:ext cx="2628900" cy="26879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8870"/>
            <a:ext cx="7734300" cy="26879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53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8870"/>
            <a:ext cx="10515600" cy="613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44351"/>
            <a:ext cx="10515600" cy="2012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939812"/>
            <a:ext cx="2743200" cy="168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AAAE3-BC05-419A-9860-B574D0BA2B56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939812"/>
            <a:ext cx="4114800" cy="168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939812"/>
            <a:ext cx="2743200" cy="168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AC27E-D280-48C2-A67F-35B37EE3DB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19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22910" rtl="0" eaLnBrk="1" latinLnBrk="0" hangingPunct="1">
        <a:lnSpc>
          <a:spcPct val="90000"/>
        </a:lnSpc>
        <a:spcBef>
          <a:spcPct val="0"/>
        </a:spcBef>
        <a:buNone/>
        <a:defRPr sz="20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5728" indent="-105728" algn="l" defTabSz="42291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295" kern="1200">
          <a:solidFill>
            <a:schemeClr val="tx1"/>
          </a:solidFill>
          <a:latin typeface="+mn-lt"/>
          <a:ea typeface="+mn-ea"/>
          <a:cs typeface="+mn-cs"/>
        </a:defRPr>
      </a:lvl1pPr>
      <a:lvl2pPr marL="317183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1110" kern="1200">
          <a:solidFill>
            <a:schemeClr val="tx1"/>
          </a:solidFill>
          <a:latin typeface="+mn-lt"/>
          <a:ea typeface="+mn-ea"/>
          <a:cs typeface="+mn-cs"/>
        </a:defRPr>
      </a:lvl2pPr>
      <a:lvl3pPr marL="528638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925" kern="1200">
          <a:solidFill>
            <a:schemeClr val="tx1"/>
          </a:solidFill>
          <a:latin typeface="+mn-lt"/>
          <a:ea typeface="+mn-ea"/>
          <a:cs typeface="+mn-cs"/>
        </a:defRPr>
      </a:lvl3pPr>
      <a:lvl4pPr marL="740093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4pPr>
      <a:lvl5pPr marL="951548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5pPr>
      <a:lvl6pPr marL="1163003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6pPr>
      <a:lvl7pPr marL="1374458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7pPr>
      <a:lvl8pPr marL="1585913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8pPr>
      <a:lvl9pPr marL="1797368" indent="-105728" algn="l" defTabSz="422910" rtl="0" eaLnBrk="1" latinLnBrk="0" hangingPunct="1">
        <a:lnSpc>
          <a:spcPct val="90000"/>
        </a:lnSpc>
        <a:spcBef>
          <a:spcPts val="231"/>
        </a:spcBef>
        <a:buFont typeface="Arial" panose="020B0604020202020204" pitchFamily="34" charset="0"/>
        <a:buChar char="•"/>
        <a:defRPr sz="8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1pPr>
      <a:lvl2pPr marL="211455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2pPr>
      <a:lvl3pPr marL="422910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3pPr>
      <a:lvl4pPr marL="634365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4pPr>
      <a:lvl5pPr marL="845820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5pPr>
      <a:lvl6pPr marL="1057275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6pPr>
      <a:lvl7pPr marL="1268730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7pPr>
      <a:lvl8pPr marL="1480185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8pPr>
      <a:lvl9pPr marL="1691640" algn="l" defTabSz="422910" rtl="0" eaLnBrk="1" latinLnBrk="0" hangingPunct="1">
        <a:defRPr sz="8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4291659-A044-9CB2-2E50-E048C53462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16"/>
          <a:stretch/>
        </p:blipFill>
        <p:spPr>
          <a:xfrm>
            <a:off x="0" y="1"/>
            <a:ext cx="12197016" cy="317182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6C11474-761D-6A41-64DC-0423406D76B7}"/>
              </a:ext>
            </a:extLst>
          </p:cNvPr>
          <p:cNvSpPr/>
          <p:nvPr/>
        </p:nvSpPr>
        <p:spPr>
          <a:xfrm>
            <a:off x="-1" y="-1"/>
            <a:ext cx="12177487" cy="317182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C27AC9-CE5A-834D-7543-29D030E426E5}"/>
              </a:ext>
            </a:extLst>
          </p:cNvPr>
          <p:cNvSpPr txBox="1"/>
          <p:nvPr/>
        </p:nvSpPr>
        <p:spPr>
          <a:xfrm>
            <a:off x="4277722" y="289180"/>
            <a:ext cx="3636556" cy="442674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pt-BR" sz="1000" dirty="0"/>
              <a:t>Abaixo estão as informações dos colaboradores conforme o histograma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7E31EC5-6148-4543-E8FC-2DA8A8D7863F}"/>
              </a:ext>
            </a:extLst>
          </p:cNvPr>
          <p:cNvSpPr/>
          <p:nvPr/>
        </p:nvSpPr>
        <p:spPr>
          <a:xfrm>
            <a:off x="0" y="2860430"/>
            <a:ext cx="11251531" cy="311393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DE891A0-08A4-AE56-B839-4E3876CD1A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7" t="38120" r="7732" b="8705"/>
          <a:stretch/>
        </p:blipFill>
        <p:spPr>
          <a:xfrm>
            <a:off x="103239" y="958645"/>
            <a:ext cx="11148292" cy="1901783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702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2898EF-5274-3916-A9D3-EDC234738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64"/>
          <a:stretch/>
        </p:blipFill>
        <p:spPr>
          <a:xfrm>
            <a:off x="0" y="0"/>
            <a:ext cx="12190770" cy="3179192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EBE7D64D-154E-A8F2-4AC7-2E6976D5D1D3}"/>
              </a:ext>
            </a:extLst>
          </p:cNvPr>
          <p:cNvSpPr/>
          <p:nvPr/>
        </p:nvSpPr>
        <p:spPr>
          <a:xfrm>
            <a:off x="7190152" y="231680"/>
            <a:ext cx="5012885" cy="268225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BD5132B-DF4E-1098-9D6A-8A96DD380295}"/>
              </a:ext>
            </a:extLst>
          </p:cNvPr>
          <p:cNvSpPr/>
          <p:nvPr/>
        </p:nvSpPr>
        <p:spPr>
          <a:xfrm>
            <a:off x="7815" y="1"/>
            <a:ext cx="7182337" cy="291393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950ABC-6C84-96D9-0662-A2DDD732E36B}"/>
              </a:ext>
            </a:extLst>
          </p:cNvPr>
          <p:cNvSpPr txBox="1"/>
          <p:nvPr/>
        </p:nvSpPr>
        <p:spPr>
          <a:xfrm>
            <a:off x="3391877" y="11897"/>
            <a:ext cx="3186587" cy="272415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Neste primeiro campo é considerado nome do Mês/Ano</a:t>
            </a:r>
          </a:p>
        </p:txBody>
      </p:sp>
      <p:pic>
        <p:nvPicPr>
          <p:cNvPr id="27" name="Gráfico 26" descr="Seta: reta com preenchimento sólido">
            <a:extLst>
              <a:ext uri="{FF2B5EF4-FFF2-40B4-BE49-F238E27FC236}">
                <a16:creationId xmlns:a16="http://schemas.microsoft.com/office/drawing/2014/main" id="{3F2B2A4B-7624-77EF-8FF0-89C137D80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589501" y="-12589"/>
            <a:ext cx="553201" cy="297165"/>
          </a:xfrm>
          <a:prstGeom prst="rect">
            <a:avLst/>
          </a:prstGeom>
          <a:effectLst>
            <a:outerShdw blurRad="190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13987E1-098C-5118-CBB9-D9C8033D987E}"/>
              </a:ext>
            </a:extLst>
          </p:cNvPr>
          <p:cNvSpPr/>
          <p:nvPr/>
        </p:nvSpPr>
        <p:spPr>
          <a:xfrm>
            <a:off x="0" y="2913936"/>
            <a:ext cx="12190770" cy="257887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4E5D095-AD44-9AB5-750D-2121A02545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25" t="11055" b="82670"/>
          <a:stretch/>
        </p:blipFill>
        <p:spPr>
          <a:xfrm>
            <a:off x="7197967" y="6350"/>
            <a:ext cx="4995147" cy="224311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63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2898EF-5274-3916-A9D3-EDC234738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41"/>
          <a:stretch/>
        </p:blipFill>
        <p:spPr>
          <a:xfrm>
            <a:off x="0" y="0"/>
            <a:ext cx="12192000" cy="3188341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EBE7D64D-154E-A8F2-4AC7-2E6976D5D1D3}"/>
              </a:ext>
            </a:extLst>
          </p:cNvPr>
          <p:cNvSpPr/>
          <p:nvPr/>
        </p:nvSpPr>
        <p:spPr>
          <a:xfrm>
            <a:off x="7191374" y="485036"/>
            <a:ext cx="5000626" cy="2411097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822F475-4880-35D3-CCE6-9861AB297FCE}"/>
              </a:ext>
            </a:extLst>
          </p:cNvPr>
          <p:cNvSpPr/>
          <p:nvPr/>
        </p:nvSpPr>
        <p:spPr>
          <a:xfrm>
            <a:off x="0" y="1"/>
            <a:ext cx="12191999" cy="247280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FDBEA63-65BD-D93B-5DC6-EA1B895D16C3}"/>
              </a:ext>
            </a:extLst>
          </p:cNvPr>
          <p:cNvSpPr/>
          <p:nvPr/>
        </p:nvSpPr>
        <p:spPr>
          <a:xfrm>
            <a:off x="-1" y="247282"/>
            <a:ext cx="7191375" cy="2648852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950ABC-6C84-96D9-0662-A2DDD732E36B}"/>
              </a:ext>
            </a:extLst>
          </p:cNvPr>
          <p:cNvSpPr txBox="1"/>
          <p:nvPr/>
        </p:nvSpPr>
        <p:spPr>
          <a:xfrm>
            <a:off x="2618154" y="256716"/>
            <a:ext cx="3959871" cy="272415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 sz="1000" dirty="0"/>
              <a:t>Nesta segunda linha é apresentado o 1° dia da semana e o nome do mês  </a:t>
            </a:r>
          </a:p>
        </p:txBody>
      </p:sp>
      <p:pic>
        <p:nvPicPr>
          <p:cNvPr id="17" name="Gráfico 16" descr="Seta: reta com preenchimento sólido">
            <a:extLst>
              <a:ext uri="{FF2B5EF4-FFF2-40B4-BE49-F238E27FC236}">
                <a16:creationId xmlns:a16="http://schemas.microsoft.com/office/drawing/2014/main" id="{E04F38E3-8F0D-DCC8-72CD-A35C7D4D8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578026" y="225164"/>
            <a:ext cx="553201" cy="297165"/>
          </a:xfrm>
          <a:prstGeom prst="rect">
            <a:avLst/>
          </a:prstGeom>
          <a:effectLst>
            <a:outerShdw blurRad="190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681F498-898D-EF68-10B4-BDD17A217F00}"/>
              </a:ext>
            </a:extLst>
          </p:cNvPr>
          <p:cNvSpPr/>
          <p:nvPr/>
        </p:nvSpPr>
        <p:spPr>
          <a:xfrm>
            <a:off x="0" y="2896133"/>
            <a:ext cx="12190770" cy="292208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C9BBE0-28CE-2156-94E7-2314BF8E2A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995" t="17875" b="75241"/>
          <a:stretch/>
        </p:blipFill>
        <p:spPr>
          <a:xfrm>
            <a:off x="7191374" y="234618"/>
            <a:ext cx="4999396" cy="247280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82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2898EF-5274-3916-A9D3-EDC234738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91"/>
          <a:stretch/>
        </p:blipFill>
        <p:spPr>
          <a:xfrm>
            <a:off x="0" y="-5251"/>
            <a:ext cx="12192000" cy="3177076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EBE7D64D-154E-A8F2-4AC7-2E6976D5D1D3}"/>
              </a:ext>
            </a:extLst>
          </p:cNvPr>
          <p:cNvSpPr/>
          <p:nvPr/>
        </p:nvSpPr>
        <p:spPr>
          <a:xfrm>
            <a:off x="7190154" y="737095"/>
            <a:ext cx="5001846" cy="212333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822F475-4880-35D3-CCE6-9861AB297FCE}"/>
              </a:ext>
            </a:extLst>
          </p:cNvPr>
          <p:cNvSpPr/>
          <p:nvPr/>
        </p:nvSpPr>
        <p:spPr>
          <a:xfrm>
            <a:off x="0" y="-10230"/>
            <a:ext cx="12192000" cy="497713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2A6ED06-6C4B-4482-9C7B-C66344878686}"/>
              </a:ext>
            </a:extLst>
          </p:cNvPr>
          <p:cNvSpPr/>
          <p:nvPr/>
        </p:nvSpPr>
        <p:spPr>
          <a:xfrm>
            <a:off x="0" y="487484"/>
            <a:ext cx="7190154" cy="2372948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519149-91B1-E61D-6363-127B73385E2B}"/>
              </a:ext>
            </a:extLst>
          </p:cNvPr>
          <p:cNvSpPr txBox="1"/>
          <p:nvPr/>
        </p:nvSpPr>
        <p:spPr>
          <a:xfrm>
            <a:off x="2821354" y="518184"/>
            <a:ext cx="3747000" cy="272415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 sz="1000" dirty="0"/>
              <a:t>Nesta linha é considerado o último dia da semana e o nome do mês  </a:t>
            </a:r>
          </a:p>
        </p:txBody>
      </p:sp>
      <p:pic>
        <p:nvPicPr>
          <p:cNvPr id="19" name="Gráfico 18" descr="Seta: reta com preenchimento sólido">
            <a:extLst>
              <a:ext uri="{FF2B5EF4-FFF2-40B4-BE49-F238E27FC236}">
                <a16:creationId xmlns:a16="http://schemas.microsoft.com/office/drawing/2014/main" id="{D9B1255D-6FC9-77EF-265F-6B6384292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573871" y="479189"/>
            <a:ext cx="553201" cy="297165"/>
          </a:xfrm>
          <a:prstGeom prst="rect">
            <a:avLst/>
          </a:prstGeom>
          <a:effectLst>
            <a:outerShdw blurRad="190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E5F5D6E1-2247-6E66-A4F0-396622098A54}"/>
              </a:ext>
            </a:extLst>
          </p:cNvPr>
          <p:cNvSpPr/>
          <p:nvPr/>
        </p:nvSpPr>
        <p:spPr>
          <a:xfrm>
            <a:off x="0" y="2860432"/>
            <a:ext cx="12190770" cy="311392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C25FB08-8683-A563-F35C-C1331F56C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974" t="24734" b="68281"/>
          <a:stretch/>
        </p:blipFill>
        <p:spPr>
          <a:xfrm>
            <a:off x="7190152" y="487483"/>
            <a:ext cx="5001847" cy="249612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275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2898EF-5274-3916-A9D3-EDC234738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1"/>
          <a:stretch/>
        </p:blipFill>
        <p:spPr>
          <a:xfrm>
            <a:off x="0" y="-4506"/>
            <a:ext cx="12192000" cy="3176329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EBE7D64D-154E-A8F2-4AC7-2E6976D5D1D3}"/>
              </a:ext>
            </a:extLst>
          </p:cNvPr>
          <p:cNvSpPr/>
          <p:nvPr/>
        </p:nvSpPr>
        <p:spPr>
          <a:xfrm>
            <a:off x="7190154" y="948361"/>
            <a:ext cx="5001846" cy="1957295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822F475-4880-35D3-CCE6-9861AB297FCE}"/>
              </a:ext>
            </a:extLst>
          </p:cNvPr>
          <p:cNvSpPr/>
          <p:nvPr/>
        </p:nvSpPr>
        <p:spPr>
          <a:xfrm>
            <a:off x="0" y="0"/>
            <a:ext cx="12192000" cy="716712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CD2CB05-898A-857F-E4DB-942C2B27C4A8}"/>
              </a:ext>
            </a:extLst>
          </p:cNvPr>
          <p:cNvSpPr/>
          <p:nvPr/>
        </p:nvSpPr>
        <p:spPr>
          <a:xfrm>
            <a:off x="0" y="716713"/>
            <a:ext cx="7190154" cy="2188944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950ABC-6C84-96D9-0662-A2DDD732E36B}"/>
              </a:ext>
            </a:extLst>
          </p:cNvPr>
          <p:cNvSpPr txBox="1"/>
          <p:nvPr/>
        </p:nvSpPr>
        <p:spPr>
          <a:xfrm>
            <a:off x="4470400" y="732789"/>
            <a:ext cx="2038414" cy="272415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 sz="1000" dirty="0"/>
              <a:t>Aqui estão os números da semana</a:t>
            </a:r>
          </a:p>
        </p:txBody>
      </p:sp>
      <p:pic>
        <p:nvPicPr>
          <p:cNvPr id="17" name="Gráfico 16" descr="Seta: reta com preenchimento sólido">
            <a:extLst>
              <a:ext uri="{FF2B5EF4-FFF2-40B4-BE49-F238E27FC236}">
                <a16:creationId xmlns:a16="http://schemas.microsoft.com/office/drawing/2014/main" id="{E31ABAF9-7CEA-6D58-567F-1B3A5A46D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511351" y="698273"/>
            <a:ext cx="553201" cy="297165"/>
          </a:xfrm>
          <a:prstGeom prst="rect">
            <a:avLst/>
          </a:prstGeom>
          <a:effectLst>
            <a:outerShdw blurRad="190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CFD03625-0796-C877-C816-BDE164231CE9}"/>
              </a:ext>
            </a:extLst>
          </p:cNvPr>
          <p:cNvSpPr/>
          <p:nvPr/>
        </p:nvSpPr>
        <p:spPr>
          <a:xfrm>
            <a:off x="0" y="2905656"/>
            <a:ext cx="12190770" cy="266167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B0E35FF-F3E5-EF59-A2F4-DB2FE4A594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974" t="31744" b="61742"/>
          <a:stretch/>
        </p:blipFill>
        <p:spPr>
          <a:xfrm>
            <a:off x="7190154" y="715642"/>
            <a:ext cx="5001846" cy="232717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98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2898EF-5274-3916-A9D3-EDC234738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1"/>
          <a:stretch/>
        </p:blipFill>
        <p:spPr>
          <a:xfrm>
            <a:off x="0" y="-4506"/>
            <a:ext cx="12192000" cy="3176329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C822F475-4880-35D3-CCE6-9861AB297FCE}"/>
              </a:ext>
            </a:extLst>
          </p:cNvPr>
          <p:cNvSpPr/>
          <p:nvPr/>
        </p:nvSpPr>
        <p:spPr>
          <a:xfrm>
            <a:off x="0" y="-4506"/>
            <a:ext cx="12192000" cy="953832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CD2CB05-898A-857F-E4DB-942C2B27C4A8}"/>
              </a:ext>
            </a:extLst>
          </p:cNvPr>
          <p:cNvSpPr/>
          <p:nvPr/>
        </p:nvSpPr>
        <p:spPr>
          <a:xfrm>
            <a:off x="0" y="949325"/>
            <a:ext cx="7190154" cy="1956331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950ABC-6C84-96D9-0662-A2DDD732E36B}"/>
              </a:ext>
            </a:extLst>
          </p:cNvPr>
          <p:cNvSpPr txBox="1"/>
          <p:nvPr/>
        </p:nvSpPr>
        <p:spPr>
          <a:xfrm>
            <a:off x="8350249" y="165943"/>
            <a:ext cx="2555875" cy="612934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pt-BR" sz="1000" dirty="0"/>
              <a:t>Este campo apresenta o calendário com a carga percentual no seguinte formato:</a:t>
            </a:r>
          </a:p>
          <a:p>
            <a:pPr algn="ctr"/>
            <a:r>
              <a:rPr lang="pt-BR" sz="1000" dirty="0"/>
              <a:t>Semana_Mês/Ano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FD03625-0796-C877-C816-BDE164231CE9}"/>
              </a:ext>
            </a:extLst>
          </p:cNvPr>
          <p:cNvSpPr/>
          <p:nvPr/>
        </p:nvSpPr>
        <p:spPr>
          <a:xfrm>
            <a:off x="0" y="2905656"/>
            <a:ext cx="12190770" cy="266167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6FA8152-DE73-F1CB-E9ED-DD1483C881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984" t="37678"/>
          <a:stretch/>
        </p:blipFill>
        <p:spPr>
          <a:xfrm>
            <a:off x="7190154" y="947072"/>
            <a:ext cx="5000616" cy="2227005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20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B41D797-4EB8-881A-11E6-801BEB8F72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 r="404" b="11789"/>
          <a:stretch/>
        </p:blipFill>
        <p:spPr>
          <a:xfrm>
            <a:off x="7816" y="-1"/>
            <a:ext cx="12184184" cy="317182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7221C3DF-152F-2E95-7C23-19D757A67F6A}"/>
              </a:ext>
            </a:extLst>
          </p:cNvPr>
          <p:cNvSpPr/>
          <p:nvPr/>
        </p:nvSpPr>
        <p:spPr>
          <a:xfrm>
            <a:off x="1" y="-1"/>
            <a:ext cx="5462954" cy="317182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64693AF-10CE-BA21-169C-741D49D4A99E}"/>
              </a:ext>
            </a:extLst>
          </p:cNvPr>
          <p:cNvSpPr/>
          <p:nvPr/>
        </p:nvSpPr>
        <p:spPr>
          <a:xfrm>
            <a:off x="7476981" y="-2"/>
            <a:ext cx="4707203" cy="317182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53C076-7043-1509-2474-DFE639EC9D2B}"/>
              </a:ext>
            </a:extLst>
          </p:cNvPr>
          <p:cNvSpPr/>
          <p:nvPr/>
        </p:nvSpPr>
        <p:spPr>
          <a:xfrm>
            <a:off x="5462956" y="2129394"/>
            <a:ext cx="2014025" cy="1042431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43374F2-36E4-9D5A-7141-77F24032D5CD}"/>
              </a:ext>
            </a:extLst>
          </p:cNvPr>
          <p:cNvSpPr/>
          <p:nvPr/>
        </p:nvSpPr>
        <p:spPr>
          <a:xfrm>
            <a:off x="5462955" y="0"/>
            <a:ext cx="2014025" cy="930032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3C3E033-73E9-6169-4073-7847CF43BD5A}"/>
              </a:ext>
            </a:extLst>
          </p:cNvPr>
          <p:cNvSpPr/>
          <p:nvPr/>
        </p:nvSpPr>
        <p:spPr>
          <a:xfrm>
            <a:off x="5000625" y="2482497"/>
            <a:ext cx="2889762" cy="442674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Caso usuário seja planejador, este poderá alterar o Status para “</a:t>
            </a:r>
            <a:r>
              <a:rPr lang="pt-BR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Liberado</a:t>
            </a: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clicando no botão “</a:t>
            </a:r>
            <a:r>
              <a:rPr lang="pt-BR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Hold</a:t>
            </a: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D208AB8-7BB4-014F-D645-30F43AA86527}"/>
              </a:ext>
            </a:extLst>
          </p:cNvPr>
          <p:cNvSpPr/>
          <p:nvPr/>
        </p:nvSpPr>
        <p:spPr>
          <a:xfrm>
            <a:off x="2543175" y="1203050"/>
            <a:ext cx="1498779" cy="9072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FF959779-5970-7666-7CBB-3D7855A998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677" t="25865" r="38764" b="41310"/>
          <a:stretch/>
        </p:blipFill>
        <p:spPr>
          <a:xfrm>
            <a:off x="5455140" y="930033"/>
            <a:ext cx="2035274" cy="1180312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Gráfico 10" descr="Dedo indicador apontando para a direita com preenchimento sólido">
            <a:extLst>
              <a:ext uri="{FF2B5EF4-FFF2-40B4-BE49-F238E27FC236}">
                <a16:creationId xmlns:a16="http://schemas.microsoft.com/office/drawing/2014/main" id="{7ED50A2B-C6F4-95DF-1294-C4E548C98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524610">
            <a:off x="7090767" y="1955472"/>
            <a:ext cx="238426" cy="238426"/>
          </a:xfrm>
          <a:prstGeom prst="rect">
            <a:avLst/>
          </a:prstGeom>
        </p:spPr>
      </p:pic>
      <p:pic>
        <p:nvPicPr>
          <p:cNvPr id="16" name="Gráfico 15" descr="Seta de linha: curva no sentido anti-horário com preenchimento sólido">
            <a:extLst>
              <a:ext uri="{FF2B5EF4-FFF2-40B4-BE49-F238E27FC236}">
                <a16:creationId xmlns:a16="http://schemas.microsoft.com/office/drawing/2014/main" id="{51400E8B-97A1-0F4A-78EA-25FBECE92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6307015" y="2023947"/>
            <a:ext cx="500185" cy="500185"/>
          </a:xfrm>
          <a:prstGeom prst="rect">
            <a:avLst/>
          </a:prstGeom>
        </p:spPr>
      </p:pic>
      <p:pic>
        <p:nvPicPr>
          <p:cNvPr id="17" name="Gráfico 16" descr="Seta de linha: curva no sentido anti-horário com preenchimento sólido">
            <a:extLst>
              <a:ext uri="{FF2B5EF4-FFF2-40B4-BE49-F238E27FC236}">
                <a16:creationId xmlns:a16="http://schemas.microsoft.com/office/drawing/2014/main" id="{0B143FC9-CEA6-9546-192A-B0CED355F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263989" y="2008961"/>
            <a:ext cx="515171" cy="51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2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D7E5EFE-301E-C400-7F7D-2E5BC53E4B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9" t="1817" r="2498" b="18594"/>
          <a:stretch/>
        </p:blipFill>
        <p:spPr>
          <a:xfrm>
            <a:off x="0" y="0"/>
            <a:ext cx="12184184" cy="3156587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7221C3DF-152F-2E95-7C23-19D757A67F6A}"/>
              </a:ext>
            </a:extLst>
          </p:cNvPr>
          <p:cNvSpPr/>
          <p:nvPr/>
        </p:nvSpPr>
        <p:spPr>
          <a:xfrm>
            <a:off x="-1" y="-1"/>
            <a:ext cx="5092397" cy="317182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64693AF-10CE-BA21-169C-741D49D4A99E}"/>
              </a:ext>
            </a:extLst>
          </p:cNvPr>
          <p:cNvSpPr/>
          <p:nvPr/>
        </p:nvSpPr>
        <p:spPr>
          <a:xfrm>
            <a:off x="7699374" y="-2"/>
            <a:ext cx="4492626" cy="317182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53C076-7043-1509-2474-DFE639EC9D2B}"/>
              </a:ext>
            </a:extLst>
          </p:cNvPr>
          <p:cNvSpPr/>
          <p:nvPr/>
        </p:nvSpPr>
        <p:spPr>
          <a:xfrm>
            <a:off x="5092396" y="2100819"/>
            <a:ext cx="2606978" cy="1071005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43374F2-36E4-9D5A-7141-77F24032D5CD}"/>
              </a:ext>
            </a:extLst>
          </p:cNvPr>
          <p:cNvSpPr/>
          <p:nvPr/>
        </p:nvSpPr>
        <p:spPr>
          <a:xfrm>
            <a:off x="5092396" y="0"/>
            <a:ext cx="2606978" cy="930032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3C3E033-73E9-6169-4073-7847CF43BD5A}"/>
              </a:ext>
            </a:extLst>
          </p:cNvPr>
          <p:cNvSpPr/>
          <p:nvPr/>
        </p:nvSpPr>
        <p:spPr>
          <a:xfrm>
            <a:off x="4987763" y="2482497"/>
            <a:ext cx="2873127" cy="442674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caso de gestores, estes poderão apenas alterar o Status para “</a:t>
            </a:r>
            <a:r>
              <a:rPr lang="pt-BR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Aprovado</a:t>
            </a: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ou “</a:t>
            </a:r>
            <a:r>
              <a:rPr lang="pt-BR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Reprovado</a:t>
            </a: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38306A2-F87D-04E9-AF13-E3B1E6A79EF9}"/>
              </a:ext>
            </a:extLst>
          </p:cNvPr>
          <p:cNvSpPr/>
          <p:nvPr/>
        </p:nvSpPr>
        <p:spPr>
          <a:xfrm>
            <a:off x="2487189" y="1184194"/>
            <a:ext cx="1366353" cy="9072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4B87CE8E-2085-C3CA-A218-EB3F6773E7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042" t="25387" r="36488" b="45234"/>
          <a:stretch/>
        </p:blipFill>
        <p:spPr>
          <a:xfrm>
            <a:off x="5107304" y="934551"/>
            <a:ext cx="2573407" cy="1165161"/>
          </a:xfrm>
          <a:prstGeom prst="rect">
            <a:avLst/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Gráfico 10" descr="Dedo indicador apontando para a direita com preenchimento sólido">
            <a:extLst>
              <a:ext uri="{FF2B5EF4-FFF2-40B4-BE49-F238E27FC236}">
                <a16:creationId xmlns:a16="http://schemas.microsoft.com/office/drawing/2014/main" id="{7ED50A2B-C6F4-95DF-1294-C4E548C98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524610">
            <a:off x="6381560" y="1966500"/>
            <a:ext cx="238426" cy="238426"/>
          </a:xfrm>
          <a:prstGeom prst="rect">
            <a:avLst/>
          </a:prstGeom>
        </p:spPr>
      </p:pic>
      <p:pic>
        <p:nvPicPr>
          <p:cNvPr id="16" name="Gráfico 15" descr="Seta de linha: curva no sentido anti-horário com preenchimento sólido">
            <a:extLst>
              <a:ext uri="{FF2B5EF4-FFF2-40B4-BE49-F238E27FC236}">
                <a16:creationId xmlns:a16="http://schemas.microsoft.com/office/drawing/2014/main" id="{51400E8B-97A1-0F4A-78EA-25FBECE92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1932" y="2041566"/>
            <a:ext cx="563940" cy="500185"/>
          </a:xfrm>
          <a:prstGeom prst="rect">
            <a:avLst/>
          </a:prstGeom>
        </p:spPr>
      </p:pic>
      <p:pic>
        <p:nvPicPr>
          <p:cNvPr id="17" name="Gráfico 16" descr="Seta de linha: curva no sentido anti-horário com preenchimento sólido">
            <a:extLst>
              <a:ext uri="{FF2B5EF4-FFF2-40B4-BE49-F238E27FC236}">
                <a16:creationId xmlns:a16="http://schemas.microsoft.com/office/drawing/2014/main" id="{0B143FC9-CEA6-9546-192A-B0CED355F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378289" y="2008961"/>
            <a:ext cx="515171" cy="51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34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D7E5EFE-301E-C400-7F7D-2E5BC53E4B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9" t="1817" r="2498" b="18594"/>
          <a:stretch/>
        </p:blipFill>
        <p:spPr>
          <a:xfrm>
            <a:off x="0" y="0"/>
            <a:ext cx="12184184" cy="3156587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7221C3DF-152F-2E95-7C23-19D757A67F6A}"/>
              </a:ext>
            </a:extLst>
          </p:cNvPr>
          <p:cNvSpPr/>
          <p:nvPr/>
        </p:nvSpPr>
        <p:spPr>
          <a:xfrm>
            <a:off x="-1" y="-1"/>
            <a:ext cx="5111751" cy="317182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64693AF-10CE-BA21-169C-741D49D4A99E}"/>
              </a:ext>
            </a:extLst>
          </p:cNvPr>
          <p:cNvSpPr/>
          <p:nvPr/>
        </p:nvSpPr>
        <p:spPr>
          <a:xfrm>
            <a:off x="9844090" y="-2"/>
            <a:ext cx="2333744" cy="3171826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53C076-7043-1509-2474-DFE639EC9D2B}"/>
              </a:ext>
            </a:extLst>
          </p:cNvPr>
          <p:cNvSpPr/>
          <p:nvPr/>
        </p:nvSpPr>
        <p:spPr>
          <a:xfrm>
            <a:off x="5092396" y="2100819"/>
            <a:ext cx="4751694" cy="1071005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43374F2-36E4-9D5A-7141-77F24032D5CD}"/>
              </a:ext>
            </a:extLst>
          </p:cNvPr>
          <p:cNvSpPr/>
          <p:nvPr/>
        </p:nvSpPr>
        <p:spPr>
          <a:xfrm>
            <a:off x="5111750" y="-2"/>
            <a:ext cx="4738690" cy="917644"/>
          </a:xfrm>
          <a:prstGeom prst="rect">
            <a:avLst/>
          </a:prstGeom>
          <a:solidFill>
            <a:schemeClr val="bg1">
              <a:lumMod val="9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38306A2-F87D-04E9-AF13-E3B1E6A79EF9}"/>
              </a:ext>
            </a:extLst>
          </p:cNvPr>
          <p:cNvSpPr/>
          <p:nvPr/>
        </p:nvSpPr>
        <p:spPr>
          <a:xfrm>
            <a:off x="2487189" y="1184194"/>
            <a:ext cx="1366353" cy="9072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2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3C3E033-73E9-6169-4073-7847CF43BD5A}"/>
              </a:ext>
            </a:extLst>
          </p:cNvPr>
          <p:cNvSpPr/>
          <p:nvPr/>
        </p:nvSpPr>
        <p:spPr>
          <a:xfrm>
            <a:off x="5572125" y="2482497"/>
            <a:ext cx="4152900" cy="442674"/>
          </a:xfrm>
          <a:prstGeom prst="roundRect">
            <a:avLst/>
          </a:prstGeom>
          <a:solidFill>
            <a:schemeClr val="bg1"/>
          </a:solidFill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Tanto o gestor quanto o planejador podem visualizar a revisão, esta é gerada sem a necessidade de aprovar, bastando apenas estar liberada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6564476-2F16-C7DE-DBB6-C001F529D4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34" t="25128" r="20310" b="45263"/>
          <a:stretch/>
        </p:blipFill>
        <p:spPr>
          <a:xfrm>
            <a:off x="5118100" y="926479"/>
            <a:ext cx="4725990" cy="1174339"/>
          </a:xfrm>
          <a:prstGeom prst="round1Rect">
            <a:avLst>
              <a:gd name="adj" fmla="val 8214"/>
            </a:avLst>
          </a:prstGeom>
          <a:effectLst>
            <a:outerShdw blurRad="3048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Gráfico 10" descr="Dedo indicador apontando para a direita com preenchimento sólido">
            <a:extLst>
              <a:ext uri="{FF2B5EF4-FFF2-40B4-BE49-F238E27FC236}">
                <a16:creationId xmlns:a16="http://schemas.microsoft.com/office/drawing/2014/main" id="{7ED50A2B-C6F4-95DF-1294-C4E548C98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524610">
            <a:off x="9444653" y="1995036"/>
            <a:ext cx="238426" cy="238426"/>
          </a:xfrm>
          <a:prstGeom prst="rect">
            <a:avLst/>
          </a:prstGeom>
        </p:spPr>
      </p:pic>
      <p:pic>
        <p:nvPicPr>
          <p:cNvPr id="17" name="Gráfico 16" descr="Seta de linha: curva no sentido anti-horário com preenchimento sólido">
            <a:extLst>
              <a:ext uri="{FF2B5EF4-FFF2-40B4-BE49-F238E27FC236}">
                <a16:creationId xmlns:a16="http://schemas.microsoft.com/office/drawing/2014/main" id="{0B143FC9-CEA6-9546-192A-B0CED355F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6465269" y="2034073"/>
            <a:ext cx="515171" cy="51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97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</TotalTime>
  <Words>136</Words>
  <Application>Microsoft Office PowerPoint</Application>
  <PresentationFormat>Personalizar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Vaz dos Santos</dc:creator>
  <cp:lastModifiedBy>Vinicius Vaz dos Santos</cp:lastModifiedBy>
  <cp:revision>5</cp:revision>
  <dcterms:created xsi:type="dcterms:W3CDTF">2022-06-29T18:24:43Z</dcterms:created>
  <dcterms:modified xsi:type="dcterms:W3CDTF">2022-06-30T19:19:42Z</dcterms:modified>
</cp:coreProperties>
</file>